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4" r:id="rId5"/>
    <p:sldId id="266" r:id="rId6"/>
    <p:sldId id="267" r:id="rId7"/>
    <p:sldId id="269" r:id="rId8"/>
    <p:sldId id="273" r:id="rId9"/>
    <p:sldId id="274" r:id="rId10"/>
    <p:sldId id="263" r:id="rId11"/>
    <p:sldId id="270" r:id="rId12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93472"/>
  </p:normalViewPr>
  <p:slideViewPr>
    <p:cSldViewPr snapToGrid="0">
      <p:cViewPr varScale="1">
        <p:scale>
          <a:sx n="100" d="100"/>
          <a:sy n="100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A7864-226D-9146-9EAC-117471AC67E0}" type="datetimeFigureOut">
              <a:rPr lang="en-US" smtClean="0"/>
              <a:t>4/30/25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74F59-F8D3-FC40-B60B-256E535CC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91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282828"/>
                </a:solidFill>
                <a:effectLst/>
                <a:latin typeface="MuseoSans"/>
              </a:rPr>
              <a:t>The abundance of </a:t>
            </a:r>
            <a:r>
              <a:rPr lang="en-US" b="0" u="none" strike="noStrike" dirty="0">
                <a:solidFill>
                  <a:srgbClr val="282828"/>
                </a:solidFill>
                <a:effectLst/>
                <a:latin typeface="MuseoSans"/>
              </a:rPr>
              <a:t>spoilage microorganisms</a:t>
            </a:r>
            <a:r>
              <a:rPr lang="en-US" b="0" i="0" u="none" strike="noStrike" dirty="0">
                <a:solidFill>
                  <a:srgbClr val="282828"/>
                </a:solidFill>
                <a:effectLst/>
                <a:latin typeface="MuseoSans"/>
              </a:rPr>
              <a:t> increased in alfalfa after 3 weeks of cold storage at 4</a:t>
            </a:r>
            <a:r>
              <a:rPr lang="en-US" b="0" i="0" u="none" strike="noStrike" baseline="30000" dirty="0">
                <a:solidFill>
                  <a:srgbClr val="282828"/>
                </a:solidFill>
                <a:effectLst/>
                <a:latin typeface="MuseoSans"/>
              </a:rPr>
              <a:t>°</a:t>
            </a:r>
            <a:r>
              <a:rPr lang="en-US" b="0" i="0" u="none" strike="noStrike" dirty="0">
                <a:solidFill>
                  <a:srgbClr val="282828"/>
                </a:solidFill>
                <a:effectLst/>
                <a:latin typeface="MuseoSans"/>
              </a:rPr>
              <a:t>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74F59-F8D3-FC40-B60B-256E535CC1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38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74F59-F8D3-FC40-B60B-256E535CC1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1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Alternative #1 Hypothesis is related to presence/absence, whereas Alternative #2 Hypothesis is related to dominant members of the community.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74F59-F8D3-FC40-B60B-256E535CC1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93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</a:t>
            </a:r>
            <a:r>
              <a:rPr lang="en-US" dirty="0">
                <a:effectLst/>
                <a:latin typeface="Aptos" panose="020B0004020202020204" pitchFamily="34" charset="0"/>
              </a:rPr>
              <a:t>he total </a:t>
            </a:r>
            <a:r>
              <a:rPr lang="en-US" dirty="0" err="1">
                <a:effectLst/>
                <a:latin typeface="Aptos" panose="020B0004020202020204" pitchFamily="34" charset="0"/>
              </a:rPr>
              <a:t>residiuals</a:t>
            </a:r>
            <a:r>
              <a:rPr lang="en-US" dirty="0">
                <a:effectLst/>
                <a:latin typeface="Aptos" panose="020B0004020202020204" pitchFamily="34" charset="0"/>
              </a:rPr>
              <a:t> of the model is ~88% of the variation remains unexplained by these variables, which is higher than 85%.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effectLst/>
                <a:latin typeface="Aptos" panose="020B0004020202020204" pitchFamily="34" charset="0"/>
              </a:rPr>
              <a:t>Betadispers</a:t>
            </a:r>
            <a:r>
              <a:rPr lang="en-US" dirty="0">
                <a:effectLst/>
                <a:latin typeface="Aptos" panose="020B0004020202020204" pitchFamily="34" charset="0"/>
              </a:rPr>
              <a:t> was significant in bray-</a:t>
            </a:r>
            <a:r>
              <a:rPr lang="en-US" dirty="0" err="1">
                <a:effectLst/>
                <a:latin typeface="Aptos" panose="020B0004020202020204" pitchFamily="34" charset="0"/>
              </a:rPr>
              <a:t>curtis</a:t>
            </a:r>
            <a:r>
              <a:rPr lang="en-US" dirty="0">
                <a:effectLst/>
                <a:latin typeface="Aptos" panose="020B0004020202020204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74F59-F8D3-FC40-B60B-256E535CC1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28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74F59-F8D3-FC40-B60B-256E535CC1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64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1CEA-537D-B856-79DB-CF1E64B07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D365B-4828-4AFA-180C-2D575CD5D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246F-BA69-1B8B-3B8E-4B85CAE9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725E-A346-5931-7337-70F974F7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6E979-4612-686E-E701-FCC380F0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5DCF-53E4-F1CE-DC33-C743E028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673CF-97E3-D3AF-B83B-F76F68FC8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3F70A-B22D-4E04-4F9E-5CEFDF8F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58445-C0D8-B007-566E-A1AB799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930FE-F9AF-A669-BF79-AA8F05E3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C65A-F781-9954-D8CA-E71FEDAE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B2DF5-B855-5660-F5D6-745AD1C36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CED4-5517-F139-2600-4939BE78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5F3C-27A6-B4A7-5DF2-4061F4EE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1B2E-6DEB-93A8-B3AC-4413D9C2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3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2CC4-7762-C80D-9F4A-9FB6F285D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D9D2C-7D0D-5879-EFC6-F2B53CA3C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EC554-9A90-9B8F-D8DD-5B71507AE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C0779-5F21-05E2-A57C-19014DB19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0DB85-BDB2-C033-B6E7-BC402114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DC2A9-6591-E0F8-5492-A673332B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8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6BD1-0021-C87B-25B2-30789CE9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7320B-7DB6-AE58-2ABD-F4BE9D887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CA709-D3BF-74CF-C889-510470056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D6389-8ECF-B65E-9469-43BB8CA58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D7B6F-B8A0-32E2-F457-2C7486E07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3BE55-7303-A774-0F4F-D9184AF6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E29FE-3ABB-8B7C-9AD6-9D1602B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0A4C16-72B9-F483-0311-A9383505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8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FA86-2EEC-E940-6D21-39FFB032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43DF5-C713-7473-D804-AAB79FBA2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6A04D5-1C26-DECD-F797-C40BE84B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F2DC7-CA0C-F0FA-1198-AC57F34C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5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6DE35-8991-2D6C-D5AB-EC15B9CF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E1D09-7661-644D-A7D2-F2FF0218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2AD0-CB0A-E2D5-62D2-C79C54675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0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6A2A-3387-10C3-8A61-812C5884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D7AD3-CB3F-1C54-4853-58006AD28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8CA27-80C6-16D0-50C1-1E12D0B16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34A0-160D-E734-E449-DDF52A95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1A0B0-0EEB-70A2-EB48-6D501FED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CC8F2-469F-FB8A-AD40-5BB046FF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7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B3C4-949A-5E69-2E8C-28DF50F2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2CD10-947A-C3A1-4AAB-E8639811E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48A26-A4C3-CCE2-CA43-C5735F30F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D3CA5-B188-A1ED-88F8-C2101231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F204A-504A-0FEB-81D1-A9069118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7E789-427A-90D9-1456-71E7C57F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220A3-C4AE-998D-FBBE-A5F0599A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B44E2-C442-8B62-6FF1-EA8CE8FA7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7DBBE-A4C9-E323-346E-4216C2F06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DE507-B99B-4D8A-1156-CDC8AC82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556AF-DC39-8ADC-C1B9-C26AAE29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7A45B-323A-8990-335C-E8EFFE6B4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D4220-009F-F260-43C4-A3B5E59A3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D79A-3C9E-F742-0282-A325E307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7E884-DEBF-7E9B-CD40-288AE298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13784-2BE9-6DD6-142B-32B62762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5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9F6FE-D8CA-C017-2684-7E2B864F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56A6F-F255-ED76-1DFE-D3CE43A9C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E8EBC-1379-D4EF-CA26-71007D1AC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DEF2E-D85D-A1C3-C2C1-36ACA6F8C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04BD-B0E3-3DDF-1D77-CBE57A00E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20E66-9187-0D4E-84DA-472BC557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6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2C1D-0F19-FCFF-CC75-0F65AAFD2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Microbial Community Changes in Bagged Romaine Lettuce After Use By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02772-F258-9428-2CB4-6386DB947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Hilal Samut</a:t>
            </a:r>
          </a:p>
          <a:p>
            <a:r>
              <a:rPr lang="en-US" dirty="0"/>
              <a:t>BIOMI6300</a:t>
            </a:r>
          </a:p>
          <a:p>
            <a:r>
              <a:rPr lang="en-US" dirty="0"/>
              <a:t>April 30, 2025</a:t>
            </a:r>
          </a:p>
        </p:txBody>
      </p:sp>
    </p:spTree>
    <p:extLst>
      <p:ext uri="{BB962C8B-B14F-4D97-AF65-F5344CB8AC3E}">
        <p14:creationId xmlns:p14="http://schemas.microsoft.com/office/powerpoint/2010/main" val="35653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FABB-153E-71BC-877E-33E3B792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83FE-A26C-14AD-F6D1-EE8443DF2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Leafy greens are highly perishable and one of the most wasted commodities</a:t>
            </a:r>
          </a:p>
          <a:p>
            <a:pPr lvl="1"/>
            <a:r>
              <a:rPr lang="en-US" noProof="0" dirty="0"/>
              <a:t>Nearly 70% of leafy greens are wasted</a:t>
            </a:r>
          </a:p>
          <a:p>
            <a:r>
              <a:rPr lang="en-US" noProof="0" dirty="0"/>
              <a:t>Major driver of food waste for leafy greens: Confusion over </a:t>
            </a:r>
            <a:r>
              <a:rPr lang="en-US" b="1" noProof="0" dirty="0"/>
              <a:t>date labeling </a:t>
            </a:r>
          </a:p>
          <a:p>
            <a:pPr lvl="1"/>
            <a:r>
              <a:rPr lang="en-US" b="1" noProof="0" dirty="0"/>
              <a:t>Use By</a:t>
            </a:r>
            <a:r>
              <a:rPr lang="en-US" noProof="0" dirty="0"/>
              <a:t>: the date after which a product is no longer remaining sufficient quality and should not be consumed, but not necessarily associated with food safety</a:t>
            </a:r>
          </a:p>
          <a:p>
            <a:pPr lvl="1"/>
            <a:r>
              <a:rPr lang="en-US" b="1" noProof="0" dirty="0"/>
              <a:t>Best Before/Best if Used Before: </a:t>
            </a:r>
            <a:r>
              <a:rPr lang="en-US" noProof="0" dirty="0"/>
              <a:t>the date after which a product loses the best quality for consumption</a:t>
            </a:r>
          </a:p>
          <a:p>
            <a:pPr lvl="1"/>
            <a:r>
              <a:rPr lang="en-US" b="1" noProof="0" dirty="0"/>
              <a:t>Sell Before: </a:t>
            </a:r>
            <a:r>
              <a:rPr lang="en-US" noProof="0" dirty="0"/>
              <a:t>the last day on which a product should be sold</a:t>
            </a:r>
          </a:p>
          <a:p>
            <a:r>
              <a:rPr lang="en-US" noProof="0" dirty="0"/>
              <a:t>Many consumers discard produce past these dates, even if the food remains safe and of acceptable quality</a:t>
            </a:r>
          </a:p>
          <a:p>
            <a:r>
              <a:rPr lang="en-US" dirty="0"/>
              <a:t>Microbial spoilage is typically what limits the shelf life of leafy greens and plays a key role in food loss. </a:t>
            </a:r>
          </a:p>
          <a:p>
            <a:r>
              <a:rPr lang="en-US" b="1" dirty="0"/>
              <a:t>Research Gap: </a:t>
            </a:r>
            <a:r>
              <a:rPr lang="en-US" dirty="0"/>
              <a:t>Limited knowledge of microbial changes after Use By 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CB45-E2EA-D21F-5ACC-534BC1A2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EF66-D886-7D05-655F-6300E081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68DD8-D483-0B2E-6568-A152307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5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83163-9638-EE31-E57C-F3393781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5125"/>
            <a:ext cx="5448300" cy="5430838"/>
          </a:xfrm>
        </p:spPr>
        <p:txBody>
          <a:bodyPr>
            <a:normAutofit/>
          </a:bodyPr>
          <a:lstStyle/>
          <a:p>
            <a:r>
              <a:rPr lang="en-US" dirty="0"/>
              <a:t>Chopped Romaine samples (n = 108):</a:t>
            </a:r>
          </a:p>
          <a:p>
            <a:pPr lvl="1"/>
            <a:r>
              <a:rPr lang="en-US" dirty="0"/>
              <a:t>Use By Date (UBD) vs 5-days-post UBD (UBD5)</a:t>
            </a:r>
          </a:p>
          <a:p>
            <a:pPr lvl="1"/>
            <a:r>
              <a:rPr lang="en-US" dirty="0"/>
              <a:t>Harvest Season</a:t>
            </a:r>
          </a:p>
          <a:p>
            <a:pPr lvl="1"/>
            <a:r>
              <a:rPr lang="en-US" dirty="0"/>
              <a:t>Brand</a:t>
            </a:r>
          </a:p>
          <a:p>
            <a:pPr lvl="1"/>
            <a:r>
              <a:rPr lang="en-US" dirty="0"/>
              <a:t>Inoculum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4CA1E-E4BF-D9DD-A9BC-552DF05BF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564" y="1"/>
            <a:ext cx="6674436" cy="4351338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D413C-CD94-D331-CB6B-30D3E295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Hilal Samut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0FA832C-46B4-89F8-9DF8-E1683FA6C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A067C-F29F-C627-29EF-E10D39DAC3E6}"/>
              </a:ext>
            </a:extLst>
          </p:cNvPr>
          <p:cNvSpPr txBox="1"/>
          <p:nvPr/>
        </p:nvSpPr>
        <p:spPr>
          <a:xfrm>
            <a:off x="0" y="3164681"/>
            <a:ext cx="54483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does the</a:t>
            </a:r>
            <a:r>
              <a:rPr lang="en-US" b="1" dirty="0"/>
              <a:t> microbial biodiversity</a:t>
            </a:r>
            <a:r>
              <a:rPr lang="en-US" dirty="0"/>
              <a:t> in chopped Romaine lettuce change during </a:t>
            </a:r>
            <a:r>
              <a:rPr lang="en-US" b="1" dirty="0"/>
              <a:t>storage </a:t>
            </a:r>
            <a:r>
              <a:rPr lang="en-US" dirty="0"/>
              <a:t>beyond use by date (UBD)?</a:t>
            </a:r>
          </a:p>
          <a:p>
            <a:pPr lvl="1"/>
            <a:r>
              <a:rPr lang="en-US" b="1" dirty="0"/>
              <a:t>Null hypothesis: </a:t>
            </a:r>
            <a:r>
              <a:rPr lang="en-US" dirty="0"/>
              <a:t>The microbial biodiversity doesn’t change during storage beyond UBD.</a:t>
            </a:r>
          </a:p>
          <a:p>
            <a:pPr lvl="1"/>
            <a:r>
              <a:rPr lang="en-US" b="1" dirty="0"/>
              <a:t>Alternative Hypothesis: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Microbial biodiversity, particularly in terms of dominant community members, increases in chopped Romaine stored beyond UBD.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This increase is expected due to the decline of early-dominant taxa, allowing multiple microbial taxa to co-dominate during extended storage due to cold storage and limited nutrients.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870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C9069-9B2D-6CFB-5071-59CD9C40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Romaine stored 5-days-post UBD had slightly higher richness and had more dominant members.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9DB57-FB03-1EF5-CD84-1CA77D6E4057}"/>
              </a:ext>
            </a:extLst>
          </p:cNvPr>
          <p:cNvSpPr txBox="1"/>
          <p:nvPr/>
        </p:nvSpPr>
        <p:spPr>
          <a:xfrm>
            <a:off x="7772400" y="1690688"/>
            <a:ext cx="441960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Aptos" panose="020B0004020202020204" pitchFamily="34" charset="0"/>
              </a:rPr>
              <a:t>Richness (q = 0): </a:t>
            </a:r>
            <a:endParaRPr lang="en-US" b="1" dirty="0">
              <a:latin typeface="Aptos" panose="020B0004020202020204" pitchFamily="34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Storage beyond UBD does not significantly affect the number of total ASVs present.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The microbial community remains comparably rich in both conditions, suggesting that ASVs are not being lost.</a:t>
            </a:r>
          </a:p>
          <a:p>
            <a:pPr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Aptos" panose="020B0004020202020204" pitchFamily="34" charset="0"/>
              </a:rPr>
              <a:t>Simpson (q = 2):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</a:t>
            </a:r>
          </a:p>
          <a:p>
            <a:pPr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UBD5 samples showed higher Simpson diversity compared to UBD samples. </a:t>
            </a:r>
          </a:p>
          <a:p>
            <a:pPr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In terms of dominant community members, lettuce samples become more even by a few taxa 5 days beyond the use by date, suggesting a shift in the microbial community where no single group outcompetes others better.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45B868-6DE2-BBC4-9A93-4BE4956C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0837"/>
            <a:ext cx="7772400" cy="3886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CF0DF-AA84-7E3A-8A41-895B53F3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66C65-C4EF-DC11-4E0D-B21E69C1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27F5D-F7D0-A68B-E39F-D629FCB0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4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7AC7-A872-E521-F90F-92173BDB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How does the </a:t>
            </a:r>
            <a:r>
              <a:rPr lang="en-US" sz="4400" b="1" dirty="0"/>
              <a:t>microbial composition </a:t>
            </a:r>
            <a:r>
              <a:rPr lang="en-US" sz="4400" dirty="0"/>
              <a:t>in chopped Romaine lettuce change during </a:t>
            </a:r>
            <a:r>
              <a:rPr lang="en-US" b="1" dirty="0"/>
              <a:t>storage </a:t>
            </a:r>
            <a:r>
              <a:rPr lang="en-US" dirty="0"/>
              <a:t>beyond use by date (UBD)</a:t>
            </a:r>
            <a:r>
              <a:rPr lang="en-US" sz="44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E8AAD-EF68-D179-5835-D73DD8288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80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Null Hypothesis: Microbial composition does not differ for prolonged storage durations after UBD for chopped Romaine lettuce</a:t>
            </a:r>
          </a:p>
          <a:p>
            <a:r>
              <a:rPr lang="en-US" sz="2400" dirty="0"/>
              <a:t>Alternative Hypothesis: </a:t>
            </a:r>
          </a:p>
          <a:p>
            <a:pPr lvl="1"/>
            <a:r>
              <a:rPr lang="en-US" dirty="0"/>
              <a:t>Microbial composition during prolonged storage is driven by </a:t>
            </a:r>
            <a:r>
              <a:rPr lang="en-US" b="1" dirty="0"/>
              <a:t>presence or absence of rare taxa </a:t>
            </a:r>
            <a:r>
              <a:rPr lang="en-US" dirty="0"/>
              <a:t>(i.e., Sorensen), with increased dissimilarity in the samples collected in UBD5 samples. </a:t>
            </a:r>
          </a:p>
          <a:p>
            <a:pPr lvl="1"/>
            <a:r>
              <a:rPr lang="en-US" b="1" dirty="0"/>
              <a:t>Dominant members </a:t>
            </a:r>
            <a:r>
              <a:rPr lang="en-US" dirty="0"/>
              <a:t>of the microbial community (i.e., Bray-Curtis) are unique in UBD5 samples.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1FE05-C461-E34B-A5E2-8851D5FF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5AFC0-1330-ED6A-6703-76720063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8D102-30FF-4B9F-59CA-855848E5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3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658A-4313-7405-DB07-151A6CED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Storage duration plays a minor role in driving microbial community shifts on chopped Romaine.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D07F0-A021-0352-8243-808C8D84B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9016"/>
            <a:ext cx="7772400" cy="3886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1B45A6-4A50-2C8B-9A55-C4AE1378C173}"/>
              </a:ext>
            </a:extLst>
          </p:cNvPr>
          <p:cNvSpPr txBox="1"/>
          <p:nvPr/>
        </p:nvSpPr>
        <p:spPr>
          <a:xfrm>
            <a:off x="7531416" y="1978918"/>
            <a:ext cx="466058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lang="en-US" b="1" i="0" u="none" strike="noStrike" dirty="0">
                <a:effectLst/>
                <a:latin typeface="Aptos" panose="020B0004020202020204" pitchFamily="34" charset="0"/>
              </a:rPr>
              <a:t>Storage time </a:t>
            </a:r>
            <a:r>
              <a:rPr lang="en-US" i="0" u="none" strike="noStrike" dirty="0">
                <a:effectLst/>
                <a:latin typeface="Aptos" panose="020B0004020202020204" pitchFamily="34" charset="0"/>
              </a:rPr>
              <a:t>significantly influences microbial composition. However, it only explains a small proportion of variation. </a:t>
            </a:r>
          </a:p>
          <a:p>
            <a:pPr marL="285750" indent="-28575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emporal microbial changes during storage are less impactful than the differences introduced by harvest season. </a:t>
            </a:r>
            <a:endParaRPr lang="en-US" b="1" i="0" u="none" strike="noStrike" dirty="0">
              <a:effectLst/>
              <a:latin typeface="Aptos" panose="020B0004020202020204" pitchFamily="34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en-US" b="1" i="0" u="none" strike="noStrike" dirty="0">
                <a:effectLst/>
                <a:latin typeface="Aptos" panose="020B0004020202020204" pitchFamily="34" charset="0"/>
              </a:rPr>
              <a:t>Harvest season 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explained the largest proportion of the variation in microbial community</a:t>
            </a:r>
          </a:p>
          <a:p>
            <a:pPr marL="285750" indent="-285750"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The seasonal shifts may reflect differences in environmental conditions (e.g., ambient temperature, rainfall, field management) influencing microbial colonization and persistence.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3F741-E5BF-7B48-5E9B-73CECF4FEB46}"/>
              </a:ext>
            </a:extLst>
          </p:cNvPr>
          <p:cNvSpPr txBox="1"/>
          <p:nvPr/>
        </p:nvSpPr>
        <p:spPr>
          <a:xfrm>
            <a:off x="89216" y="1896180"/>
            <a:ext cx="34604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Sorensen Dissimilarity:</a:t>
            </a:r>
          </a:p>
          <a:p>
            <a:r>
              <a:rPr lang="en-US" b="1" dirty="0"/>
              <a:t>Season</a:t>
            </a:r>
            <a:r>
              <a:rPr lang="en-US" dirty="0"/>
              <a:t>: R</a:t>
            </a:r>
            <a:r>
              <a:rPr lang="en-US" baseline="30000" dirty="0"/>
              <a:t>2</a:t>
            </a:r>
            <a:r>
              <a:rPr lang="en-US" dirty="0"/>
              <a:t> ~9%, p-value &lt;0.001</a:t>
            </a:r>
          </a:p>
          <a:p>
            <a:r>
              <a:rPr lang="en-US" b="1" dirty="0"/>
              <a:t>Storage</a:t>
            </a:r>
            <a:r>
              <a:rPr lang="en-US" dirty="0"/>
              <a:t>: R</a:t>
            </a:r>
            <a:r>
              <a:rPr lang="en-US" baseline="30000" dirty="0"/>
              <a:t>2</a:t>
            </a:r>
            <a:r>
              <a:rPr lang="en-US" dirty="0"/>
              <a:t> ~3%, p-value &lt;0.001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E21D8-F6B1-0160-249B-F4CD4ABCE3F8}"/>
              </a:ext>
            </a:extLst>
          </p:cNvPr>
          <p:cNvSpPr txBox="1"/>
          <p:nvPr/>
        </p:nvSpPr>
        <p:spPr>
          <a:xfrm>
            <a:off x="3549650" y="1896180"/>
            <a:ext cx="34604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Bray-Curtis Dissimilarity:</a:t>
            </a:r>
          </a:p>
          <a:p>
            <a:r>
              <a:rPr lang="en-US" b="1" dirty="0"/>
              <a:t>Season</a:t>
            </a:r>
            <a:r>
              <a:rPr lang="en-US" dirty="0"/>
              <a:t>: R</a:t>
            </a:r>
            <a:r>
              <a:rPr lang="en-US" baseline="30000" dirty="0"/>
              <a:t>2</a:t>
            </a:r>
            <a:r>
              <a:rPr lang="en-US" dirty="0"/>
              <a:t> ~9%, p-value &lt;0.001</a:t>
            </a:r>
          </a:p>
          <a:p>
            <a:r>
              <a:rPr lang="en-US" b="1" dirty="0"/>
              <a:t>Storage</a:t>
            </a:r>
            <a:r>
              <a:rPr lang="en-US" dirty="0"/>
              <a:t>: R</a:t>
            </a:r>
            <a:r>
              <a:rPr lang="en-US" baseline="30000" dirty="0"/>
              <a:t>2</a:t>
            </a:r>
            <a:r>
              <a:rPr lang="en-US" dirty="0"/>
              <a:t> ~4%, p-value &lt;0.001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F25C1-3853-D478-5A89-68D78D57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3855C-D771-2B61-BA7A-E8CEA3F9F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00EDA-3F42-18A3-795F-9A967CF9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2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726D2-0D7F-33B5-CA6E-3A7441AF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Pseudomonadota was the most abundant phylum in chopped Romaine.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01296-ABE8-CCBB-1F36-C7E87EDC652E}"/>
              </a:ext>
            </a:extLst>
          </p:cNvPr>
          <p:cNvSpPr txBox="1"/>
          <p:nvPr/>
        </p:nvSpPr>
        <p:spPr>
          <a:xfrm>
            <a:off x="8822724" y="1690688"/>
            <a:ext cx="33713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Microbial community composition varied modestly </a:t>
            </a:r>
            <a:r>
              <a:rPr lang="en-US" dirty="0">
                <a:latin typeface="Aptos" panose="020B0004020202020204" pitchFamily="34" charset="0"/>
              </a:rPr>
              <a:t>during storage of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chopped Romaine.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While several phyla appear stable across storage, others show potential slight shifts in relative abundance.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This 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suggests subtle shifts in relative abundance might be due to (</a:t>
            </a:r>
            <a:r>
              <a:rPr lang="en-US" b="0" i="0" u="none" strike="noStrike" dirty="0" err="1">
                <a:effectLst/>
                <a:latin typeface="Aptos" panose="020B0004020202020204" pitchFamily="34" charset="0"/>
              </a:rPr>
              <a:t>i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) onset of spoilage, </a:t>
            </a:r>
            <a:r>
              <a:rPr lang="en-US" dirty="0">
                <a:latin typeface="Aptos" panose="020B0004020202020204" pitchFamily="34" charset="0"/>
              </a:rPr>
              <a:t>(ii) m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icrobial die-off</a:t>
            </a:r>
            <a:r>
              <a:rPr lang="en-US" dirty="0">
                <a:latin typeface="Aptos" panose="020B0004020202020204" pitchFamily="34" charset="0"/>
              </a:rPr>
              <a:t> and (iii) s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elective pressure from low temperature.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8" name="Content Placeholder 7" descr="A group of graphs with different colored dots&#10;&#10;AI-generated content may be incorrect.">
            <a:extLst>
              <a:ext uri="{FF2B5EF4-FFF2-40B4-BE49-F238E27FC236}">
                <a16:creationId xmlns:a16="http://schemas.microsoft.com/office/drawing/2014/main" id="{09EA5994-E596-67EF-F417-D0233DC39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25626"/>
            <a:ext cx="8702676" cy="4351338"/>
          </a:xfr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90EFCC1-D419-9484-D68A-6F562967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F6A07BC-1415-EDB3-78EE-CD9908FC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94E4C58-BE68-1E64-DF06-03330A11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59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5394-B4D7-ECB8-13D5-E3CEA52E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Genus </a:t>
            </a:r>
            <a:r>
              <a:rPr lang="en-US" i="1" dirty="0"/>
              <a:t>Pseudomonas </a:t>
            </a:r>
            <a:r>
              <a:rPr lang="en-US" dirty="0"/>
              <a:t>remained abundant and stable across storage.</a:t>
            </a:r>
            <a:endParaRPr lang="en-US" i="1" dirty="0"/>
          </a:p>
        </p:txBody>
      </p:sp>
      <p:pic>
        <p:nvPicPr>
          <p:cNvPr id="5" name="Content Placeholder 4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8F995A38-0B98-7418-D49B-B2D3A347B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5418"/>
          <a:stretch/>
        </p:blipFill>
        <p:spPr>
          <a:xfrm>
            <a:off x="146223" y="2659627"/>
            <a:ext cx="5462317" cy="243522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762893-DAA2-4DA3-9685-45BEE0D6C686}"/>
              </a:ext>
            </a:extLst>
          </p:cNvPr>
          <p:cNvSpPr txBox="1"/>
          <p:nvPr/>
        </p:nvSpPr>
        <p:spPr>
          <a:xfrm>
            <a:off x="5947719" y="2223542"/>
            <a:ext cx="6098058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1" u="none" strike="noStrike" dirty="0">
                <a:effectLst/>
                <a:latin typeface="Aptos" panose="020B0004020202020204" pitchFamily="34" charset="0"/>
              </a:rPr>
              <a:t>Pseudomonas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: Genus </a:t>
            </a:r>
            <a:r>
              <a:rPr lang="en-US" b="0" i="1" u="none" strike="noStrike" dirty="0">
                <a:effectLst/>
                <a:latin typeface="Aptos" panose="020B0004020202020204" pitchFamily="34" charset="0"/>
              </a:rPr>
              <a:t>Pseudomonas 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drove the dominance of Pseudomonadota. </a:t>
            </a:r>
            <a:r>
              <a:rPr lang="en-US" dirty="0">
                <a:latin typeface="Aptos" panose="020B0004020202020204" pitchFamily="34" charset="0"/>
              </a:rPr>
              <a:t>The s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table relative abundance of </a:t>
            </a:r>
            <a:r>
              <a:rPr lang="en-US" b="0" i="1" u="none" strike="noStrike" dirty="0">
                <a:effectLst/>
                <a:latin typeface="Aptos" panose="020B0004020202020204" pitchFamily="34" charset="0"/>
              </a:rPr>
              <a:t>Pseudomonas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across storage durations suggests strong resilience and potential roles in spoilage or cold adaptation.</a:t>
            </a:r>
          </a:p>
          <a:p>
            <a:pPr algn="l">
              <a:spcAft>
                <a:spcPts val="750"/>
              </a:spcAft>
            </a:pPr>
            <a:r>
              <a:rPr lang="en-US" b="1" i="1" u="none" strike="noStrike" dirty="0" err="1">
                <a:effectLst/>
                <a:latin typeface="Aptos" panose="020B0004020202020204" pitchFamily="34" charset="0"/>
              </a:rPr>
              <a:t>Nissabacter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: Contrary to the Pseudomonadota trend, </a:t>
            </a:r>
            <a:r>
              <a:rPr lang="en-US" b="0" i="1" u="none" strike="noStrike" dirty="0" err="1">
                <a:effectLst/>
                <a:latin typeface="Aptos" panose="020B0004020202020204" pitchFamily="34" charset="0"/>
              </a:rPr>
              <a:t>Nissabacter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 increased in UBD5 samples. However, there is a need for genus-level resolution when interpreting spoilage related dynamics.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BB117-FEB6-0D59-56C7-A251A682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EE1A5-7E7A-CEAE-13B1-2C2448FD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6B24-0BC2-A602-966E-E0F20123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47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5691-5B96-1EE5-A988-C375A149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Genus </a:t>
            </a:r>
            <a:r>
              <a:rPr lang="en-US" i="1" dirty="0" err="1"/>
              <a:t>Leuconostoc</a:t>
            </a:r>
            <a:r>
              <a:rPr lang="en-US" i="1" dirty="0"/>
              <a:t> </a:t>
            </a:r>
            <a:r>
              <a:rPr lang="en-US" dirty="0"/>
              <a:t>showed a slight increase in chopped Romaine beyond storage.</a:t>
            </a:r>
          </a:p>
        </p:txBody>
      </p:sp>
      <p:pic>
        <p:nvPicPr>
          <p:cNvPr id="5" name="Content Placeholder 4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501E88DF-1929-65FE-564A-2CEE74872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5259"/>
          <a:stretch/>
        </p:blipFill>
        <p:spPr>
          <a:xfrm>
            <a:off x="264641" y="2659602"/>
            <a:ext cx="5515145" cy="246753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D002D2-C319-532A-6198-992EA2E0752F}"/>
              </a:ext>
            </a:extLst>
          </p:cNvPr>
          <p:cNvSpPr txBox="1"/>
          <p:nvPr/>
        </p:nvSpPr>
        <p:spPr>
          <a:xfrm>
            <a:off x="5829301" y="2488311"/>
            <a:ext cx="6098058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1" i="1" u="none" strike="noStrike" dirty="0" err="1">
                <a:effectLst/>
                <a:latin typeface="Aptos" panose="020B0004020202020204" pitchFamily="34" charset="0"/>
              </a:rPr>
              <a:t>Leuconostoc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showed a notable increase with extended storage (UBD5). While </a:t>
            </a:r>
            <a:r>
              <a:rPr lang="en-US" b="0" i="0" u="none" strike="noStrike" dirty="0" err="1">
                <a:effectLst/>
                <a:latin typeface="Aptos" panose="020B0004020202020204" pitchFamily="34" charset="0"/>
              </a:rPr>
              <a:t>Bacillota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appeared relatively stable across storage durations at the phylum level, </a:t>
            </a:r>
            <a:r>
              <a:rPr lang="en-US" b="0" i="1" u="none" strike="noStrike" dirty="0" err="1">
                <a:effectLst/>
                <a:latin typeface="Aptos" panose="020B0004020202020204" pitchFamily="34" charset="0"/>
              </a:rPr>
              <a:t>Leuconostoc</a:t>
            </a:r>
            <a:r>
              <a:rPr lang="en-US" b="0" i="0" u="none" strike="noStrike" dirty="0" err="1">
                <a:effectLst/>
                <a:latin typeface="Aptos" panose="020B0004020202020204" pitchFamily="34" charset="0"/>
              </a:rPr>
              <a:t>’s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behavior suggests a potential role in spoilage or fermentation-like processes during storage.</a:t>
            </a:r>
          </a:p>
          <a:p>
            <a:pPr algn="l">
              <a:spcAft>
                <a:spcPts val="750"/>
              </a:spcAft>
            </a:pPr>
            <a:r>
              <a:rPr lang="en-US" b="1" i="1" u="none" strike="noStrike" dirty="0" err="1">
                <a:effectLst/>
                <a:latin typeface="Aptos" panose="020B0004020202020204" pitchFamily="34" charset="0"/>
              </a:rPr>
              <a:t>Weissella</a:t>
            </a:r>
            <a:r>
              <a:rPr lang="en-US" dirty="0">
                <a:latin typeface="Aptos" panose="020B0004020202020204" pitchFamily="34" charset="0"/>
              </a:rPr>
              <a:t> s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howed a low relative abundance with a high variability. This might imply that some </a:t>
            </a:r>
            <a:r>
              <a:rPr lang="en-US" b="0" i="0" u="none" strike="noStrike" dirty="0" err="1">
                <a:effectLst/>
                <a:latin typeface="Aptos" panose="020B0004020202020204" pitchFamily="34" charset="0"/>
              </a:rPr>
              <a:t>Bacillota</a:t>
            </a:r>
            <a:r>
              <a:rPr lang="en-US" b="0" i="0" u="none" strike="noStrike" dirty="0">
                <a:effectLst/>
                <a:latin typeface="Aptos" panose="020B0004020202020204" pitchFamily="34" charset="0"/>
              </a:rPr>
              <a:t> genera may be outcompeted or suppressed as storage progresses.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4809B-4815-40BF-9841-6A6C3DF7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1A306-C14C-A354-5845-A2047CC1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50122-E9F4-2D50-984B-DF0D20FA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6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D4A3-0003-28F5-AEC9-8CE44595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5F510-C141-BC6B-270E-E54D41839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Storage duration didn’t have a significant impact </a:t>
            </a:r>
            <a:r>
              <a:rPr lang="en-US" dirty="0"/>
              <a:t>on the microbial richness and abundance of bagged Romaine lettuce.</a:t>
            </a:r>
          </a:p>
          <a:p>
            <a:r>
              <a:rPr lang="en-US" b="1" dirty="0"/>
              <a:t>Extended storage beyond UBD</a:t>
            </a:r>
            <a:r>
              <a:rPr lang="en-US" dirty="0"/>
              <a:t> doesn’t favor major </a:t>
            </a:r>
            <a:r>
              <a:rPr lang="en-US" b="1" dirty="0"/>
              <a:t>spoilage-associated genus - </a:t>
            </a:r>
            <a:r>
              <a:rPr lang="en-US" b="1" i="1" dirty="0"/>
              <a:t>Pseudomonas</a:t>
            </a:r>
            <a:r>
              <a:rPr lang="en-US" dirty="0"/>
              <a:t>.</a:t>
            </a:r>
          </a:p>
          <a:p>
            <a:r>
              <a:rPr lang="en-US" b="1" dirty="0"/>
              <a:t>Findings can guide better shelf-life assessments</a:t>
            </a:r>
            <a:r>
              <a:rPr lang="en-US" dirty="0"/>
              <a:t>, helping reduce unnecessary food waste by informing the industry about when quality actually declines.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B8AA4-DA7E-973D-D43B-DA3C759BF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4E2D7-C326-4F8B-463B-4A311E8F0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F2FAD-D0D4-2DDE-60E3-C333D331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4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C2F7-5833-D1E3-B0FE-1B91D965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99BF-5E45-5889-5261-505E0803C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Studies on </a:t>
            </a:r>
            <a:r>
              <a:rPr lang="en-US" i="1" dirty="0" err="1">
                <a:latin typeface="Aptos" panose="020B0004020202020204" pitchFamily="34" charset="0"/>
              </a:rPr>
              <a:t>Nissabacter</a:t>
            </a:r>
            <a:r>
              <a:rPr lang="en-US" i="1" dirty="0"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and whether it affects produce spoilage or not, its growth dynamics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Examine whether spoilage-associated shifts (e.g., increased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Pseudomonas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 create conditions that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inhibit or favor foodborne pathogen growth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Does a rise in spoilage microbes suppress pathogens through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nutrient competition or antimicrobial production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?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How does microbial composition affect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risk assessment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for post-UBD consumption?</a:t>
            </a:r>
            <a:endParaRPr lang="en-US" i="1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0CB65-4B92-60C4-A016-75880602A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April 30,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15C3E-C31F-4C3B-14A1-9583047C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Hilal Samut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DC5CB-75AB-20CC-DA0A-1BFDCAA3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20E66-9187-0D4E-84DA-472BC55791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4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</TotalTime>
  <Words>1079</Words>
  <Application>Microsoft Macintosh PowerPoint</Application>
  <PresentationFormat>Widescreen</PresentationFormat>
  <Paragraphs>102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MuseoSans</vt:lpstr>
      <vt:lpstr>Office Theme</vt:lpstr>
      <vt:lpstr>Microbial Community Changes in Bagged Romaine Lettuce After Use By Date</vt:lpstr>
      <vt:lpstr>Introduction</vt:lpstr>
      <vt:lpstr>PowerPoint Presentation</vt:lpstr>
      <vt:lpstr>Romaine stored 5-days-post UBD had slightly higher richness and had more dominant members. </vt:lpstr>
      <vt:lpstr>How does the microbial composition in chopped Romaine lettuce change during storage beyond use by date (UBD)?</vt:lpstr>
      <vt:lpstr>Storage duration plays a minor role in driving microbial community shifts on chopped Romaine. </vt:lpstr>
      <vt:lpstr>Pseudomonadota was the most abundant phylum in chopped Romaine.</vt:lpstr>
      <vt:lpstr>Genus Pseudomonas remained abundant and stable across storage.</vt:lpstr>
      <vt:lpstr>Genus Leuconostoc showed a slight increase in chopped Romaine beyond storage.</vt:lpstr>
      <vt:lpstr>Conclusion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Hilal Samut</dc:creator>
  <cp:lastModifiedBy>Hilal Samut</cp:lastModifiedBy>
  <cp:revision>255</cp:revision>
  <dcterms:created xsi:type="dcterms:W3CDTF">2025-04-28T01:48:28Z</dcterms:created>
  <dcterms:modified xsi:type="dcterms:W3CDTF">2025-04-30T17:04:40Z</dcterms:modified>
</cp:coreProperties>
</file>