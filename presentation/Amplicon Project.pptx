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9" r:id="rId4"/>
    <p:sldId id="264" r:id="rId5"/>
    <p:sldId id="265" r:id="rId6"/>
    <p:sldId id="266" r:id="rId7"/>
    <p:sldId id="267" r:id="rId8"/>
    <p:sldId id="268" r:id="rId9"/>
    <p:sldId id="269" r:id="rId10"/>
    <p:sldId id="271" r:id="rId11"/>
    <p:sldId id="273" r:id="rId12"/>
    <p:sldId id="274" r:id="rId13"/>
    <p:sldId id="260" r:id="rId14"/>
    <p:sldId id="262" r:id="rId15"/>
    <p:sldId id="270" r:id="rId16"/>
    <p:sldId id="263" r:id="rId17"/>
  </p:sldIdLst>
  <p:sldSz cx="12192000" cy="6858000"/>
  <p:notesSz cx="6858000" cy="9144000"/>
  <p:defaultText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317"/>
    <p:restoredTop sz="93472"/>
  </p:normalViewPr>
  <p:slideViewPr>
    <p:cSldViewPr snapToGrid="0">
      <p:cViewPr>
        <p:scale>
          <a:sx n="103" d="100"/>
          <a:sy n="103" d="100"/>
        </p:scale>
        <p:origin x="592" y="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AA7864-226D-9146-9EAC-117471AC67E0}" type="datetimeFigureOut">
              <a:rPr lang="en-US" smtClean="0"/>
              <a:t>4/29/25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C74F59-F8D3-FC40-B60B-256E535CC16A}" type="slidenum">
              <a:rPr lang="en-US" smtClean="0"/>
              <a:t>‹#›</a:t>
            </a:fld>
            <a:endParaRPr lang="en-US"/>
          </a:p>
        </p:txBody>
      </p:sp>
    </p:spTree>
    <p:extLst>
      <p:ext uri="{BB962C8B-B14F-4D97-AF65-F5344CB8AC3E}">
        <p14:creationId xmlns:p14="http://schemas.microsoft.com/office/powerpoint/2010/main" val="606991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webkit-standard"/>
              </a:rPr>
              <a:t>study analyzing microbial communities on bagged chopped Romaine lettuce across different seasons and storage durations.</a:t>
            </a:r>
          </a:p>
          <a:p>
            <a:r>
              <a:rPr lang="en-US" dirty="0"/>
              <a:t>Although fruits and leafy greens are vital components of a healthy diet, they are also highly perishable and heavily wasted foods. Studies show that up to 70% of leafy greens are wasted before they reach consumers. In the U.S., about 31% of total food produced in 2010 — valued at over 160 billion dollars — was lost, with vegetables ranking second among the most wasted food groups.</a:t>
            </a:r>
          </a:p>
          <a:p>
            <a:r>
              <a:rPr lang="en-US" dirty="0"/>
              <a:t>One major driver of this waste is confusion over date labeling — particularly terms like “Use By” and “Best Before.” Many consumers discard produce past these dates, even when the food remains safe and of acceptable quality.</a:t>
            </a:r>
          </a:p>
          <a:p>
            <a:r>
              <a:rPr lang="en-US" dirty="0"/>
              <a:t>Microorganisms are a key factor in food spoilage. Previous studies have characterized bacterial communities on fresh produce at or before the “Use By” date. However, little is known about microbial dynamics after this date.</a:t>
            </a:r>
            <a:br>
              <a:rPr lang="en-US" dirty="0"/>
            </a:br>
            <a:r>
              <a:rPr lang="en-US" dirty="0"/>
              <a:t>To fill this gap, we evaluated the microbiome of bagged chopped Romaine lettuce on the Use By date and five days afterward, using both culture-dependent and 16S rRNA sequencing methods.</a:t>
            </a:r>
            <a:br>
              <a:rPr lang="en-US" dirty="0"/>
            </a:br>
            <a:r>
              <a:rPr lang="en-US" dirty="0"/>
              <a:t>Our goals were to understand how seasonality and extended storage affect microbial composition and diversity.</a:t>
            </a:r>
          </a:p>
          <a:p>
            <a:endParaRPr lang="en-US" dirty="0"/>
          </a:p>
          <a:p>
            <a:endParaRPr lang="en-US" dirty="0"/>
          </a:p>
        </p:txBody>
      </p:sp>
      <p:sp>
        <p:nvSpPr>
          <p:cNvPr id="4" name="Slide Number Placeholder 3"/>
          <p:cNvSpPr>
            <a:spLocks noGrp="1"/>
          </p:cNvSpPr>
          <p:nvPr>
            <p:ph type="sldNum" sz="quarter" idx="5"/>
          </p:nvPr>
        </p:nvSpPr>
        <p:spPr/>
        <p:txBody>
          <a:bodyPr/>
          <a:lstStyle/>
          <a:p>
            <a:fld id="{AFC74F59-F8D3-FC40-B60B-256E535CC16A}" type="slidenum">
              <a:rPr lang="en-US" smtClean="0"/>
              <a:t>2</a:t>
            </a:fld>
            <a:endParaRPr lang="en-US"/>
          </a:p>
        </p:txBody>
      </p:sp>
    </p:spTree>
    <p:extLst>
      <p:ext uri="{BB962C8B-B14F-4D97-AF65-F5344CB8AC3E}">
        <p14:creationId xmlns:p14="http://schemas.microsoft.com/office/powerpoint/2010/main" val="3153738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Alternative #1 Hypothesis is related to presence/absence, whereas Alternative #2 Hypothesis is related to dominant members of the community.</a:t>
            </a:r>
          </a:p>
          <a:p>
            <a:endParaRPr lang="en-US" dirty="0"/>
          </a:p>
        </p:txBody>
      </p:sp>
      <p:sp>
        <p:nvSpPr>
          <p:cNvPr id="4" name="Slide Number Placeholder 3"/>
          <p:cNvSpPr>
            <a:spLocks noGrp="1"/>
          </p:cNvSpPr>
          <p:nvPr>
            <p:ph type="sldNum" sz="quarter" idx="5"/>
          </p:nvPr>
        </p:nvSpPr>
        <p:spPr/>
        <p:txBody>
          <a:bodyPr/>
          <a:lstStyle/>
          <a:p>
            <a:fld id="{AFC74F59-F8D3-FC40-B60B-256E535CC16A}" type="slidenum">
              <a:rPr lang="en-US" smtClean="0"/>
              <a:t>6</a:t>
            </a:fld>
            <a:endParaRPr lang="en-US"/>
          </a:p>
        </p:txBody>
      </p:sp>
    </p:spTree>
    <p:extLst>
      <p:ext uri="{BB962C8B-B14F-4D97-AF65-F5344CB8AC3E}">
        <p14:creationId xmlns:p14="http://schemas.microsoft.com/office/powerpoint/2010/main" val="1194893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t>
            </a:r>
            <a:r>
              <a:rPr lang="en-US" dirty="0">
                <a:effectLst/>
                <a:latin typeface="Aptos" panose="020B0004020202020204" pitchFamily="34" charset="0"/>
              </a:rPr>
              <a:t>he total </a:t>
            </a:r>
            <a:r>
              <a:rPr lang="en-US" dirty="0" err="1">
                <a:effectLst/>
                <a:latin typeface="Aptos" panose="020B0004020202020204" pitchFamily="34" charset="0"/>
              </a:rPr>
              <a:t>residiuals</a:t>
            </a:r>
            <a:r>
              <a:rPr lang="en-US" dirty="0">
                <a:effectLst/>
                <a:latin typeface="Aptos" panose="020B0004020202020204" pitchFamily="34" charset="0"/>
              </a:rPr>
              <a:t> of the model is ~88% of the variation remains unexplained by these variables, which is higher than 85%.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effectLst/>
                <a:latin typeface="Aptos" panose="020B0004020202020204" pitchFamily="34" charset="0"/>
              </a:rPr>
              <a:t>Betadispers</a:t>
            </a:r>
            <a:r>
              <a:rPr lang="en-US" dirty="0">
                <a:effectLst/>
                <a:latin typeface="Aptos" panose="020B0004020202020204" pitchFamily="34" charset="0"/>
              </a:rPr>
              <a:t> was significant in bray-</a:t>
            </a:r>
            <a:r>
              <a:rPr lang="en-US" dirty="0" err="1">
                <a:effectLst/>
                <a:latin typeface="Aptos" panose="020B0004020202020204" pitchFamily="34" charset="0"/>
              </a:rPr>
              <a:t>curtis</a:t>
            </a:r>
            <a:r>
              <a:rPr lang="en-US" dirty="0">
                <a:effectLst/>
                <a:latin typeface="Aptos" panose="020B0004020202020204" pitchFamily="34" charset="0"/>
              </a:rPr>
              <a:t> </a:t>
            </a:r>
          </a:p>
          <a:p>
            <a:endParaRPr lang="en-US" dirty="0"/>
          </a:p>
        </p:txBody>
      </p:sp>
      <p:sp>
        <p:nvSpPr>
          <p:cNvPr id="4" name="Slide Number Placeholder 3"/>
          <p:cNvSpPr>
            <a:spLocks noGrp="1"/>
          </p:cNvSpPr>
          <p:nvPr>
            <p:ph type="sldNum" sz="quarter" idx="5"/>
          </p:nvPr>
        </p:nvSpPr>
        <p:spPr/>
        <p:txBody>
          <a:bodyPr/>
          <a:lstStyle/>
          <a:p>
            <a:fld id="{AFC74F59-F8D3-FC40-B60B-256E535CC16A}" type="slidenum">
              <a:rPr lang="en-US" smtClean="0"/>
              <a:t>7</a:t>
            </a:fld>
            <a:endParaRPr lang="en-US"/>
          </a:p>
        </p:txBody>
      </p:sp>
    </p:spTree>
    <p:extLst>
      <p:ext uri="{BB962C8B-B14F-4D97-AF65-F5344CB8AC3E}">
        <p14:creationId xmlns:p14="http://schemas.microsoft.com/office/powerpoint/2010/main" val="771328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u="none" strike="noStrike" dirty="0">
                <a:solidFill>
                  <a:srgbClr val="000000"/>
                </a:solidFill>
                <a:effectLst/>
              </a:rPr>
              <a:t>In this part, we examined the relative abundances of major bacterial groups across seasons and storage times.</a:t>
            </a:r>
          </a:p>
          <a:p>
            <a:pPr algn="l">
              <a:buNone/>
            </a:pPr>
            <a:r>
              <a:rPr lang="en-US" b="0" i="0" u="none" strike="noStrike" dirty="0">
                <a:solidFill>
                  <a:srgbClr val="000000"/>
                </a:solidFill>
                <a:effectLst/>
              </a:rPr>
              <a:t>Across all samples, </a:t>
            </a:r>
            <a:r>
              <a:rPr lang="en-US" b="1" i="0" u="none" strike="noStrike" dirty="0">
                <a:solidFill>
                  <a:srgbClr val="000000"/>
                </a:solidFill>
                <a:effectLst/>
              </a:rPr>
              <a:t>Proteobacteria</a:t>
            </a:r>
            <a:r>
              <a:rPr lang="en-US" b="0" i="0" u="none" strike="noStrike" dirty="0">
                <a:solidFill>
                  <a:srgbClr val="000000"/>
                </a:solidFill>
                <a:effectLst/>
              </a:rPr>
              <a:t> was the dominant phylum, consistent with previous studies of fresh produce microbiota. Within Proteobacteria, genera like </a:t>
            </a:r>
            <a:r>
              <a:rPr lang="en-US" b="0" i="1" u="none" strike="noStrike" dirty="0">
                <a:solidFill>
                  <a:srgbClr val="000000"/>
                </a:solidFill>
                <a:effectLst/>
              </a:rPr>
              <a:t>Pseudomonas</a:t>
            </a:r>
            <a:r>
              <a:rPr lang="en-US" b="0" i="0" u="none" strike="noStrike" dirty="0">
                <a:solidFill>
                  <a:srgbClr val="000000"/>
                </a:solidFill>
                <a:effectLst/>
              </a:rPr>
              <a:t> and </a:t>
            </a:r>
            <a:r>
              <a:rPr lang="en-US" b="0" i="1" u="none" strike="noStrike" dirty="0" err="1">
                <a:solidFill>
                  <a:srgbClr val="000000"/>
                </a:solidFill>
                <a:effectLst/>
              </a:rPr>
              <a:t>Pantoea</a:t>
            </a:r>
            <a:r>
              <a:rPr lang="en-US" b="0" i="0" u="none" strike="noStrike" dirty="0">
                <a:solidFill>
                  <a:srgbClr val="000000"/>
                </a:solidFill>
                <a:effectLst/>
              </a:rPr>
              <a:t> were particularly abundant.</a:t>
            </a:r>
          </a:p>
          <a:p>
            <a:pPr algn="l">
              <a:buNone/>
            </a:pPr>
            <a:r>
              <a:rPr lang="en-US" b="0" i="0" u="none" strike="noStrike" dirty="0">
                <a:solidFill>
                  <a:srgbClr val="000000"/>
                </a:solidFill>
                <a:effectLst/>
              </a:rPr>
              <a:t>Now, when comparing seasons, we observed some interesting patterns:</a:t>
            </a:r>
          </a:p>
          <a:p>
            <a:pPr algn="l">
              <a:buFont typeface="Arial" panose="020B0604020202020204" pitchFamily="34" charset="0"/>
              <a:buChar char="•"/>
            </a:pPr>
            <a:r>
              <a:rPr lang="en-US" b="1" i="0" u="none" strike="noStrike" dirty="0">
                <a:solidFill>
                  <a:srgbClr val="000000"/>
                </a:solidFill>
                <a:effectLst/>
              </a:rPr>
              <a:t>Early-season lettuce</a:t>
            </a:r>
            <a:r>
              <a:rPr lang="en-US" b="0" i="0" u="none" strike="noStrike" dirty="0">
                <a:solidFill>
                  <a:srgbClr val="000000"/>
                </a:solidFill>
                <a:effectLst/>
              </a:rPr>
              <a:t> showed a higher relative abundance of </a:t>
            </a:r>
            <a:r>
              <a:rPr lang="en-US" b="1" i="0" u="none" strike="noStrike" dirty="0">
                <a:solidFill>
                  <a:srgbClr val="000000"/>
                </a:solidFill>
                <a:effectLst/>
              </a:rPr>
              <a:t>Pseudomonas</a:t>
            </a:r>
            <a:r>
              <a:rPr lang="en-US" b="0" i="0" u="none" strike="noStrike" dirty="0">
                <a:solidFill>
                  <a:srgbClr val="000000"/>
                </a:solidFill>
                <a:effectLst/>
              </a:rPr>
              <a:t> species.</a:t>
            </a:r>
          </a:p>
          <a:p>
            <a:pPr algn="l">
              <a:buFont typeface="Arial" panose="020B0604020202020204" pitchFamily="34" charset="0"/>
              <a:buChar char="•"/>
            </a:pPr>
            <a:r>
              <a:rPr lang="en-US" b="1" i="0" u="none" strike="noStrike" dirty="0">
                <a:solidFill>
                  <a:srgbClr val="000000"/>
                </a:solidFill>
                <a:effectLst/>
              </a:rPr>
              <a:t>Late-season lettuce</a:t>
            </a:r>
            <a:r>
              <a:rPr lang="en-US" b="0" i="0" u="none" strike="noStrike" dirty="0">
                <a:solidFill>
                  <a:srgbClr val="000000"/>
                </a:solidFill>
                <a:effectLst/>
              </a:rPr>
              <a:t> exhibited more </a:t>
            </a:r>
            <a:r>
              <a:rPr lang="en-US" b="1" i="0" u="none" strike="noStrike" dirty="0">
                <a:solidFill>
                  <a:srgbClr val="000000"/>
                </a:solidFill>
                <a:effectLst/>
              </a:rPr>
              <a:t>Enterobacteriaceae</a:t>
            </a:r>
            <a:r>
              <a:rPr lang="en-US" b="0" i="0" u="none" strike="noStrike" dirty="0">
                <a:solidFill>
                  <a:srgbClr val="000000"/>
                </a:solidFill>
                <a:effectLst/>
              </a:rPr>
              <a:t>, including genera like </a:t>
            </a:r>
            <a:r>
              <a:rPr lang="en-US" b="0" i="1" u="none" strike="noStrike" dirty="0" err="1">
                <a:solidFill>
                  <a:srgbClr val="000000"/>
                </a:solidFill>
                <a:effectLst/>
              </a:rPr>
              <a:t>Pantoea</a:t>
            </a:r>
            <a:r>
              <a:rPr lang="en-US" b="0" i="0" u="none" strike="noStrike" dirty="0">
                <a:solidFill>
                  <a:srgbClr val="000000"/>
                </a:solidFill>
                <a:effectLst/>
              </a:rPr>
              <a:t> and </a:t>
            </a:r>
            <a:r>
              <a:rPr lang="en-US" b="0" i="1" u="none" strike="noStrike" dirty="0">
                <a:solidFill>
                  <a:srgbClr val="000000"/>
                </a:solidFill>
                <a:effectLst/>
              </a:rPr>
              <a:t>Enterobacter</a:t>
            </a:r>
            <a:r>
              <a:rPr lang="en-US" b="0" i="0" u="none" strike="noStrike" dirty="0">
                <a:solidFill>
                  <a:srgbClr val="000000"/>
                </a:solidFill>
                <a:effectLst/>
              </a:rPr>
              <a:t>.</a:t>
            </a:r>
          </a:p>
          <a:p>
            <a:pPr algn="l">
              <a:buNone/>
            </a:pPr>
            <a:r>
              <a:rPr lang="en-US" b="0" i="0" u="none" strike="noStrike" dirty="0">
                <a:solidFill>
                  <a:srgbClr val="000000"/>
                </a:solidFill>
                <a:effectLst/>
              </a:rPr>
              <a:t>This seasonal difference suggests that environmental conditions during harvest — such as temperature and moisture — may shape the initial microbiota on lettuce.</a:t>
            </a:r>
          </a:p>
          <a:p>
            <a:pPr algn="l">
              <a:buNone/>
            </a:pPr>
            <a:r>
              <a:rPr lang="en-US" b="0" i="0" u="none" strike="noStrike" dirty="0">
                <a:solidFill>
                  <a:srgbClr val="000000"/>
                </a:solidFill>
                <a:effectLst/>
              </a:rPr>
              <a:t>When we examined the effect of </a:t>
            </a:r>
            <a:r>
              <a:rPr lang="en-US" b="1" i="0" u="none" strike="noStrike" dirty="0">
                <a:solidFill>
                  <a:srgbClr val="000000"/>
                </a:solidFill>
                <a:effectLst/>
              </a:rPr>
              <a:t>storage time</a:t>
            </a:r>
            <a:r>
              <a:rPr lang="en-US" b="0" i="0" u="none" strike="noStrike" dirty="0">
                <a:solidFill>
                  <a:srgbClr val="000000"/>
                </a:solidFill>
                <a:effectLst/>
              </a:rPr>
              <a:t>, comparing samples at the Use By Date (UBD) and five days after (UBD+5):</a:t>
            </a:r>
          </a:p>
          <a:p>
            <a:pPr algn="l">
              <a:buFont typeface="Arial" panose="020B0604020202020204" pitchFamily="34" charset="0"/>
              <a:buChar char="•"/>
            </a:pPr>
            <a:r>
              <a:rPr lang="en-US" b="0" i="0" u="none" strike="noStrike" dirty="0">
                <a:solidFill>
                  <a:srgbClr val="000000"/>
                </a:solidFill>
                <a:effectLst/>
              </a:rPr>
              <a:t>There was an </a:t>
            </a:r>
            <a:r>
              <a:rPr lang="en-US" b="1" i="0" u="none" strike="noStrike" dirty="0">
                <a:solidFill>
                  <a:srgbClr val="000000"/>
                </a:solidFill>
                <a:effectLst/>
              </a:rPr>
              <a:t>increase</a:t>
            </a:r>
            <a:r>
              <a:rPr lang="en-US" b="0" i="0" u="none" strike="noStrike" dirty="0">
                <a:solidFill>
                  <a:srgbClr val="000000"/>
                </a:solidFill>
                <a:effectLst/>
              </a:rPr>
              <a:t> in the abundance of spoilage-associated genera like </a:t>
            </a:r>
            <a:r>
              <a:rPr lang="en-US" b="0" i="1" u="none" strike="noStrike" dirty="0">
                <a:solidFill>
                  <a:srgbClr val="000000"/>
                </a:solidFill>
                <a:effectLst/>
              </a:rPr>
              <a:t>Pseudomonas</a:t>
            </a:r>
            <a:r>
              <a:rPr lang="en-US" b="0" i="0" u="none" strike="noStrike" dirty="0">
                <a:solidFill>
                  <a:srgbClr val="000000"/>
                </a:solidFill>
                <a:effectLst/>
              </a:rPr>
              <a:t> after 5 days of storage.</a:t>
            </a:r>
          </a:p>
          <a:p>
            <a:pPr algn="l">
              <a:buFont typeface="Arial" panose="020B0604020202020204" pitchFamily="34" charset="0"/>
              <a:buChar char="•"/>
            </a:pPr>
            <a:r>
              <a:rPr lang="en-US" b="0" i="1" u="none" strike="noStrike" dirty="0" err="1">
                <a:solidFill>
                  <a:srgbClr val="000000"/>
                </a:solidFill>
                <a:effectLst/>
              </a:rPr>
              <a:t>Pantoea</a:t>
            </a:r>
            <a:r>
              <a:rPr lang="en-US" b="0" i="0" u="none" strike="noStrike" dirty="0">
                <a:solidFill>
                  <a:srgbClr val="000000"/>
                </a:solidFill>
                <a:effectLst/>
              </a:rPr>
              <a:t> tended to remain stable or slightly increase in some samples.</a:t>
            </a:r>
          </a:p>
          <a:p>
            <a:pPr algn="l">
              <a:buNone/>
            </a:pPr>
            <a:r>
              <a:rPr lang="en-US" b="0" i="0" u="none" strike="noStrike" dirty="0">
                <a:solidFill>
                  <a:srgbClr val="000000"/>
                </a:solidFill>
                <a:effectLst/>
              </a:rPr>
              <a:t>This suggests that storage beyond the Use By date allows opportunistic spoilage organisms, particularly </a:t>
            </a:r>
            <a:r>
              <a:rPr lang="en-US" b="0" i="0" u="none" strike="noStrike" dirty="0" err="1">
                <a:solidFill>
                  <a:srgbClr val="000000"/>
                </a:solidFill>
                <a:effectLst/>
              </a:rPr>
              <a:t>psychrotolerant</a:t>
            </a:r>
            <a:r>
              <a:rPr lang="en-US" b="0" i="0" u="none" strike="noStrike" dirty="0">
                <a:solidFill>
                  <a:srgbClr val="000000"/>
                </a:solidFill>
                <a:effectLst/>
              </a:rPr>
              <a:t> bacteria, to grow and dominate.</a:t>
            </a:r>
          </a:p>
          <a:p>
            <a:pPr algn="l"/>
            <a:r>
              <a:rPr lang="en-US" b="0" i="0" u="none" strike="noStrike" dirty="0">
                <a:solidFill>
                  <a:srgbClr val="000000"/>
                </a:solidFill>
                <a:effectLst/>
              </a:rPr>
              <a:t>Overall, microbial composition shifted both with season and storage time, but the changes after the Use By date were particularly notable for spoilage-associated taxa.</a:t>
            </a:r>
          </a:p>
          <a:p>
            <a:endParaRPr lang="en-US" dirty="0"/>
          </a:p>
        </p:txBody>
      </p:sp>
      <p:sp>
        <p:nvSpPr>
          <p:cNvPr id="4" name="Slide Number Placeholder 3"/>
          <p:cNvSpPr>
            <a:spLocks noGrp="1"/>
          </p:cNvSpPr>
          <p:nvPr>
            <p:ph type="sldNum" sz="quarter" idx="5"/>
          </p:nvPr>
        </p:nvSpPr>
        <p:spPr/>
        <p:txBody>
          <a:bodyPr/>
          <a:lstStyle/>
          <a:p>
            <a:fld id="{AFC74F59-F8D3-FC40-B60B-256E535CC16A}" type="slidenum">
              <a:rPr lang="en-US" smtClean="0"/>
              <a:t>13</a:t>
            </a:fld>
            <a:endParaRPr lang="en-US"/>
          </a:p>
        </p:txBody>
      </p:sp>
    </p:spTree>
    <p:extLst>
      <p:ext uri="{BB962C8B-B14F-4D97-AF65-F5344CB8AC3E}">
        <p14:creationId xmlns:p14="http://schemas.microsoft.com/office/powerpoint/2010/main" val="4826216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None/>
            </a:pPr>
            <a:r>
              <a:rPr lang="en-US" b="0" i="0" u="none" strike="noStrike" dirty="0">
                <a:solidFill>
                  <a:srgbClr val="000000"/>
                </a:solidFill>
                <a:effectLst/>
              </a:rPr>
              <a:t>To summarize:</a:t>
            </a:r>
          </a:p>
          <a:p>
            <a:pPr algn="l">
              <a:buFont typeface="Arial" panose="020B0604020202020204" pitchFamily="34" charset="0"/>
              <a:buChar char="•"/>
            </a:pPr>
            <a:r>
              <a:rPr lang="en-US" b="0" i="0" u="none" strike="noStrike" dirty="0">
                <a:solidFill>
                  <a:srgbClr val="000000"/>
                </a:solidFill>
                <a:effectLst/>
              </a:rPr>
              <a:t>Both </a:t>
            </a:r>
            <a:r>
              <a:rPr lang="en-US" b="1" i="0" u="none" strike="noStrike" dirty="0">
                <a:solidFill>
                  <a:srgbClr val="000000"/>
                </a:solidFill>
                <a:effectLst/>
              </a:rPr>
              <a:t>seasonality</a:t>
            </a:r>
            <a:r>
              <a:rPr lang="en-US" b="0" i="0" u="none" strike="noStrike" dirty="0">
                <a:solidFill>
                  <a:srgbClr val="000000"/>
                </a:solidFill>
                <a:effectLst/>
              </a:rPr>
              <a:t> and </a:t>
            </a:r>
            <a:r>
              <a:rPr lang="en-US" b="1" i="0" u="none" strike="noStrike" dirty="0">
                <a:solidFill>
                  <a:srgbClr val="000000"/>
                </a:solidFill>
                <a:effectLst/>
              </a:rPr>
              <a:t>storage duration</a:t>
            </a:r>
            <a:r>
              <a:rPr lang="en-US" b="0" i="0" u="none" strike="noStrike" dirty="0">
                <a:solidFill>
                  <a:srgbClr val="000000"/>
                </a:solidFill>
                <a:effectLst/>
              </a:rPr>
              <a:t> significantly influenced the microbial communities of bagged chopped Romaine lettuce.</a:t>
            </a:r>
          </a:p>
          <a:p>
            <a:pPr algn="l">
              <a:buFont typeface="Arial" panose="020B0604020202020204" pitchFamily="34" charset="0"/>
              <a:buChar char="•"/>
            </a:pPr>
            <a:r>
              <a:rPr lang="en-US" b="0" i="0" u="none" strike="noStrike" dirty="0">
                <a:solidFill>
                  <a:srgbClr val="000000"/>
                </a:solidFill>
                <a:effectLst/>
              </a:rPr>
              <a:t>Season affected the initial composition — early-season products had more </a:t>
            </a:r>
            <a:r>
              <a:rPr lang="en-US" b="0" i="1" u="none" strike="noStrike" dirty="0">
                <a:solidFill>
                  <a:srgbClr val="000000"/>
                </a:solidFill>
                <a:effectLst/>
              </a:rPr>
              <a:t>Pseudomonas</a:t>
            </a:r>
            <a:r>
              <a:rPr lang="en-US" b="0" i="0" u="none" strike="noStrike" dirty="0">
                <a:solidFill>
                  <a:srgbClr val="000000"/>
                </a:solidFill>
                <a:effectLst/>
              </a:rPr>
              <a:t>, while late-season products had more </a:t>
            </a:r>
            <a:r>
              <a:rPr lang="en-US" b="0" i="1" u="none" strike="noStrike" dirty="0" err="1">
                <a:solidFill>
                  <a:srgbClr val="000000"/>
                </a:solidFill>
                <a:effectLst/>
              </a:rPr>
              <a:t>Pantoea</a:t>
            </a:r>
            <a:r>
              <a:rPr lang="en-US" b="0" i="0" u="none" strike="noStrike" dirty="0">
                <a:solidFill>
                  <a:srgbClr val="000000"/>
                </a:solidFill>
                <a:effectLst/>
              </a:rPr>
              <a:t> and other Enterobacteriaceae.</a:t>
            </a:r>
          </a:p>
          <a:p>
            <a:pPr algn="l">
              <a:buFont typeface="Arial" panose="020B0604020202020204" pitchFamily="34" charset="0"/>
              <a:buChar char="•"/>
            </a:pPr>
            <a:r>
              <a:rPr lang="en-US" b="0" i="0" u="none" strike="noStrike" dirty="0">
                <a:solidFill>
                  <a:srgbClr val="000000"/>
                </a:solidFill>
                <a:effectLst/>
              </a:rPr>
              <a:t>Storage beyond the Use By Date resulted in further shifts toward spoilage-associated bacteria, particularly an increase in </a:t>
            </a:r>
            <a:r>
              <a:rPr lang="en-US" b="0" i="1" u="none" strike="noStrike" dirty="0">
                <a:solidFill>
                  <a:srgbClr val="000000"/>
                </a:solidFill>
                <a:effectLst/>
              </a:rPr>
              <a:t>Pseudomonas</a:t>
            </a:r>
            <a:r>
              <a:rPr lang="en-US" b="0" i="0" u="none" strike="noStrike" dirty="0">
                <a:solidFill>
                  <a:srgbClr val="000000"/>
                </a:solidFill>
                <a:effectLst/>
              </a:rPr>
              <a:t>.</a:t>
            </a:r>
          </a:p>
          <a:p>
            <a:pPr algn="l">
              <a:buNone/>
            </a:pPr>
            <a:r>
              <a:rPr lang="en-US" b="0" i="0" u="none" strike="noStrike" dirty="0">
                <a:solidFill>
                  <a:srgbClr val="000000"/>
                </a:solidFill>
                <a:effectLst/>
              </a:rPr>
              <a:t>These findings suggest that even after the Use By date, the microbial changes are systematic and dominated by predictable spoilage organisms, rather than random contamination.</a:t>
            </a:r>
          </a:p>
          <a:p>
            <a:pPr algn="l">
              <a:buNone/>
            </a:pPr>
            <a:r>
              <a:rPr lang="en-US" b="0" i="0" u="none" strike="noStrike" dirty="0">
                <a:solidFill>
                  <a:srgbClr val="000000"/>
                </a:solidFill>
                <a:effectLst/>
              </a:rPr>
              <a:t>Understanding these microbial dynamics can help better inform </a:t>
            </a:r>
            <a:r>
              <a:rPr lang="en-US" b="1" i="0" u="none" strike="noStrike" dirty="0">
                <a:solidFill>
                  <a:srgbClr val="000000"/>
                </a:solidFill>
                <a:effectLst/>
              </a:rPr>
              <a:t>date labeling practices</a:t>
            </a:r>
            <a:r>
              <a:rPr lang="en-US" b="0" i="0" u="none" strike="noStrike" dirty="0">
                <a:solidFill>
                  <a:srgbClr val="000000"/>
                </a:solidFill>
                <a:effectLst/>
              </a:rPr>
              <a:t>, </a:t>
            </a:r>
            <a:r>
              <a:rPr lang="en-US" b="1" i="0" u="none" strike="noStrike" dirty="0">
                <a:solidFill>
                  <a:srgbClr val="000000"/>
                </a:solidFill>
                <a:effectLst/>
              </a:rPr>
              <a:t>storage recommendations</a:t>
            </a:r>
            <a:r>
              <a:rPr lang="en-US" b="0" i="0" u="none" strike="noStrike" dirty="0">
                <a:solidFill>
                  <a:srgbClr val="000000"/>
                </a:solidFill>
                <a:effectLst/>
              </a:rPr>
              <a:t>, and </a:t>
            </a:r>
            <a:r>
              <a:rPr lang="en-US" b="1" i="0" u="none" strike="noStrike" dirty="0">
                <a:solidFill>
                  <a:srgbClr val="000000"/>
                </a:solidFill>
                <a:effectLst/>
              </a:rPr>
              <a:t>consumer guidance</a:t>
            </a:r>
            <a:r>
              <a:rPr lang="en-US" b="0" i="0" u="none" strike="noStrike" dirty="0">
                <a:solidFill>
                  <a:srgbClr val="000000"/>
                </a:solidFill>
                <a:effectLst/>
              </a:rPr>
              <a:t> to reduce unnecessary food waste without compromising food safety.</a:t>
            </a:r>
          </a:p>
          <a:p>
            <a:pPr algn="l"/>
            <a:r>
              <a:rPr lang="en-US" b="0" i="0" u="none" strike="noStrike" dirty="0">
                <a:solidFill>
                  <a:srgbClr val="000000"/>
                </a:solidFill>
                <a:effectLst/>
              </a:rPr>
              <a:t>Thank you for listening! I’d be happy to take any questions.</a:t>
            </a:r>
          </a:p>
          <a:p>
            <a:endParaRPr lang="en-US" dirty="0"/>
          </a:p>
        </p:txBody>
      </p:sp>
      <p:sp>
        <p:nvSpPr>
          <p:cNvPr id="4" name="Slide Number Placeholder 3"/>
          <p:cNvSpPr>
            <a:spLocks noGrp="1"/>
          </p:cNvSpPr>
          <p:nvPr>
            <p:ph type="sldNum" sz="quarter" idx="5"/>
          </p:nvPr>
        </p:nvSpPr>
        <p:spPr/>
        <p:txBody>
          <a:bodyPr/>
          <a:lstStyle/>
          <a:p>
            <a:fld id="{AFC74F59-F8D3-FC40-B60B-256E535CC16A}" type="slidenum">
              <a:rPr lang="en-US" smtClean="0"/>
              <a:t>16</a:t>
            </a:fld>
            <a:endParaRPr lang="en-US"/>
          </a:p>
        </p:txBody>
      </p:sp>
    </p:spTree>
    <p:extLst>
      <p:ext uri="{BB962C8B-B14F-4D97-AF65-F5344CB8AC3E}">
        <p14:creationId xmlns:p14="http://schemas.microsoft.com/office/powerpoint/2010/main" val="2159764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11CEA-537D-B856-79DB-CF1E64B07C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29D365B-4828-4AFA-180C-2D575CD5DA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25246F-BA69-1B8B-3B8E-4B85CAE9AC70}"/>
              </a:ext>
            </a:extLst>
          </p:cNvPr>
          <p:cNvSpPr>
            <a:spLocks noGrp="1"/>
          </p:cNvSpPr>
          <p:nvPr>
            <p:ph type="dt" sz="half" idx="10"/>
          </p:nvPr>
        </p:nvSpPr>
        <p:spPr/>
        <p:txBody>
          <a:bodyPr/>
          <a:lstStyle/>
          <a:p>
            <a:fld id="{00271F3C-B153-9A41-9182-146617DD0480}" type="datetimeFigureOut">
              <a:rPr lang="en-US" smtClean="0"/>
              <a:t>4/29/25</a:t>
            </a:fld>
            <a:endParaRPr lang="en-US"/>
          </a:p>
        </p:txBody>
      </p:sp>
      <p:sp>
        <p:nvSpPr>
          <p:cNvPr id="5" name="Footer Placeholder 4">
            <a:extLst>
              <a:ext uri="{FF2B5EF4-FFF2-40B4-BE49-F238E27FC236}">
                <a16:creationId xmlns:a16="http://schemas.microsoft.com/office/drawing/2014/main" id="{C529725E-A346-5931-7337-70F974F79E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16E979-4612-686E-E701-FCC380F048F1}"/>
              </a:ext>
            </a:extLst>
          </p:cNvPr>
          <p:cNvSpPr>
            <a:spLocks noGrp="1"/>
          </p:cNvSpPr>
          <p:nvPr>
            <p:ph type="sldNum" sz="quarter" idx="12"/>
          </p:nvPr>
        </p:nvSpPr>
        <p:spPr/>
        <p:txBody>
          <a:bodyPr/>
          <a:lstStyle/>
          <a:p>
            <a:fld id="{27320E66-9187-0D4E-84DA-472BC55791FF}" type="slidenum">
              <a:rPr lang="en-US" smtClean="0"/>
              <a:t>‹#›</a:t>
            </a:fld>
            <a:endParaRPr lang="en-US"/>
          </a:p>
        </p:txBody>
      </p:sp>
    </p:spTree>
    <p:extLst>
      <p:ext uri="{BB962C8B-B14F-4D97-AF65-F5344CB8AC3E}">
        <p14:creationId xmlns:p14="http://schemas.microsoft.com/office/powerpoint/2010/main" val="365686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45DCF-53E4-F1CE-DC33-C743E02856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4673CF-97E3-D3AF-B83B-F76F68FC8A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63F70A-B22D-4E04-4F9E-5CEFDF8F679E}"/>
              </a:ext>
            </a:extLst>
          </p:cNvPr>
          <p:cNvSpPr>
            <a:spLocks noGrp="1"/>
          </p:cNvSpPr>
          <p:nvPr>
            <p:ph type="dt" sz="half" idx="10"/>
          </p:nvPr>
        </p:nvSpPr>
        <p:spPr/>
        <p:txBody>
          <a:bodyPr/>
          <a:lstStyle/>
          <a:p>
            <a:fld id="{00271F3C-B153-9A41-9182-146617DD0480}" type="datetimeFigureOut">
              <a:rPr lang="en-US" smtClean="0"/>
              <a:t>4/29/25</a:t>
            </a:fld>
            <a:endParaRPr lang="en-US"/>
          </a:p>
        </p:txBody>
      </p:sp>
      <p:sp>
        <p:nvSpPr>
          <p:cNvPr id="5" name="Footer Placeholder 4">
            <a:extLst>
              <a:ext uri="{FF2B5EF4-FFF2-40B4-BE49-F238E27FC236}">
                <a16:creationId xmlns:a16="http://schemas.microsoft.com/office/drawing/2014/main" id="{46E58445-C0D8-B007-566E-A1AB799148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C930FE-F9AF-A669-BF79-AA8F05E399D2}"/>
              </a:ext>
            </a:extLst>
          </p:cNvPr>
          <p:cNvSpPr>
            <a:spLocks noGrp="1"/>
          </p:cNvSpPr>
          <p:nvPr>
            <p:ph type="sldNum" sz="quarter" idx="12"/>
          </p:nvPr>
        </p:nvSpPr>
        <p:spPr/>
        <p:txBody>
          <a:bodyPr/>
          <a:lstStyle/>
          <a:p>
            <a:fld id="{27320E66-9187-0D4E-84DA-472BC55791FF}" type="slidenum">
              <a:rPr lang="en-US" smtClean="0"/>
              <a:t>‹#›</a:t>
            </a:fld>
            <a:endParaRPr lang="en-US"/>
          </a:p>
        </p:txBody>
      </p:sp>
    </p:spTree>
    <p:extLst>
      <p:ext uri="{BB962C8B-B14F-4D97-AF65-F5344CB8AC3E}">
        <p14:creationId xmlns:p14="http://schemas.microsoft.com/office/powerpoint/2010/main" val="111472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5C65A-F781-9954-D8CA-E71FEDAEC04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34B2DF5-B855-5660-F5D6-745AD1C36A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33CED4-5517-F139-2600-4939BE789581}"/>
              </a:ext>
            </a:extLst>
          </p:cNvPr>
          <p:cNvSpPr>
            <a:spLocks noGrp="1"/>
          </p:cNvSpPr>
          <p:nvPr>
            <p:ph type="dt" sz="half" idx="10"/>
          </p:nvPr>
        </p:nvSpPr>
        <p:spPr/>
        <p:txBody>
          <a:bodyPr/>
          <a:lstStyle/>
          <a:p>
            <a:fld id="{00271F3C-B153-9A41-9182-146617DD0480}" type="datetimeFigureOut">
              <a:rPr lang="en-US" smtClean="0"/>
              <a:t>4/29/25</a:t>
            </a:fld>
            <a:endParaRPr lang="en-US"/>
          </a:p>
        </p:txBody>
      </p:sp>
      <p:sp>
        <p:nvSpPr>
          <p:cNvPr id="5" name="Footer Placeholder 4">
            <a:extLst>
              <a:ext uri="{FF2B5EF4-FFF2-40B4-BE49-F238E27FC236}">
                <a16:creationId xmlns:a16="http://schemas.microsoft.com/office/drawing/2014/main" id="{82995F3C-27A6-B4A7-5DF2-4061F4EEE8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A91B2E-6DEB-93A8-B3AC-4413D9C25A40}"/>
              </a:ext>
            </a:extLst>
          </p:cNvPr>
          <p:cNvSpPr>
            <a:spLocks noGrp="1"/>
          </p:cNvSpPr>
          <p:nvPr>
            <p:ph type="sldNum" sz="quarter" idx="12"/>
          </p:nvPr>
        </p:nvSpPr>
        <p:spPr/>
        <p:txBody>
          <a:bodyPr/>
          <a:lstStyle/>
          <a:p>
            <a:fld id="{27320E66-9187-0D4E-84DA-472BC55791FF}" type="slidenum">
              <a:rPr lang="en-US" smtClean="0"/>
              <a:t>‹#›</a:t>
            </a:fld>
            <a:endParaRPr lang="en-US"/>
          </a:p>
        </p:txBody>
      </p:sp>
    </p:spTree>
    <p:extLst>
      <p:ext uri="{BB962C8B-B14F-4D97-AF65-F5344CB8AC3E}">
        <p14:creationId xmlns:p14="http://schemas.microsoft.com/office/powerpoint/2010/main" val="1324536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22CC4-7762-C80D-9F4A-9FB6F285D9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62D9D2C-7D0D-5879-EFC6-F2B53CA3CB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89EC554-9A90-9B8F-D8DD-5B71507AE58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8C0779-5F21-05E2-A57C-19014DB19EF1}"/>
              </a:ext>
            </a:extLst>
          </p:cNvPr>
          <p:cNvSpPr>
            <a:spLocks noGrp="1"/>
          </p:cNvSpPr>
          <p:nvPr>
            <p:ph type="dt" sz="half" idx="10"/>
          </p:nvPr>
        </p:nvSpPr>
        <p:spPr/>
        <p:txBody>
          <a:bodyPr/>
          <a:lstStyle/>
          <a:p>
            <a:fld id="{00271F3C-B153-9A41-9182-146617DD0480}" type="datetimeFigureOut">
              <a:rPr lang="en-US" smtClean="0"/>
              <a:t>4/29/25</a:t>
            </a:fld>
            <a:endParaRPr lang="en-US"/>
          </a:p>
        </p:txBody>
      </p:sp>
      <p:sp>
        <p:nvSpPr>
          <p:cNvPr id="6" name="Footer Placeholder 5">
            <a:extLst>
              <a:ext uri="{FF2B5EF4-FFF2-40B4-BE49-F238E27FC236}">
                <a16:creationId xmlns:a16="http://schemas.microsoft.com/office/drawing/2014/main" id="{A1B0DB85-BDB2-C033-B6E7-BC4021142A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1DC2A9-6591-E0F8-5492-A673332B9873}"/>
              </a:ext>
            </a:extLst>
          </p:cNvPr>
          <p:cNvSpPr>
            <a:spLocks noGrp="1"/>
          </p:cNvSpPr>
          <p:nvPr>
            <p:ph type="sldNum" sz="quarter" idx="12"/>
          </p:nvPr>
        </p:nvSpPr>
        <p:spPr/>
        <p:txBody>
          <a:bodyPr/>
          <a:lstStyle/>
          <a:p>
            <a:fld id="{27320E66-9187-0D4E-84DA-472BC55791FF}" type="slidenum">
              <a:rPr lang="en-US" smtClean="0"/>
              <a:t>‹#›</a:t>
            </a:fld>
            <a:endParaRPr lang="en-US"/>
          </a:p>
        </p:txBody>
      </p:sp>
    </p:spTree>
    <p:extLst>
      <p:ext uri="{BB962C8B-B14F-4D97-AF65-F5344CB8AC3E}">
        <p14:creationId xmlns:p14="http://schemas.microsoft.com/office/powerpoint/2010/main" val="2583283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66BD1-0021-C87B-25B2-30789CE910C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87320B-7DB6-AE58-2ABD-F4BE9D8874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6ECA709-D3BF-74CF-C889-5104700566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8D6389-8ECF-B65E-9469-43BB8CA581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FD7B6F-B8A0-32E2-F457-2C7486E079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C93BE55-7303-A774-0F4F-D9184AF6672B}"/>
              </a:ext>
            </a:extLst>
          </p:cNvPr>
          <p:cNvSpPr>
            <a:spLocks noGrp="1"/>
          </p:cNvSpPr>
          <p:nvPr>
            <p:ph type="dt" sz="half" idx="10"/>
          </p:nvPr>
        </p:nvSpPr>
        <p:spPr/>
        <p:txBody>
          <a:bodyPr/>
          <a:lstStyle/>
          <a:p>
            <a:fld id="{00271F3C-B153-9A41-9182-146617DD0480}" type="datetimeFigureOut">
              <a:rPr lang="en-US" smtClean="0"/>
              <a:t>4/29/25</a:t>
            </a:fld>
            <a:endParaRPr lang="en-US"/>
          </a:p>
        </p:txBody>
      </p:sp>
      <p:sp>
        <p:nvSpPr>
          <p:cNvPr id="8" name="Footer Placeholder 7">
            <a:extLst>
              <a:ext uri="{FF2B5EF4-FFF2-40B4-BE49-F238E27FC236}">
                <a16:creationId xmlns:a16="http://schemas.microsoft.com/office/drawing/2014/main" id="{2ADE29FE-3ABB-8B7C-9AD6-9D1602B141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0A4C16-72B9-F483-0311-A93835051294}"/>
              </a:ext>
            </a:extLst>
          </p:cNvPr>
          <p:cNvSpPr>
            <a:spLocks noGrp="1"/>
          </p:cNvSpPr>
          <p:nvPr>
            <p:ph type="sldNum" sz="quarter" idx="12"/>
          </p:nvPr>
        </p:nvSpPr>
        <p:spPr/>
        <p:txBody>
          <a:bodyPr/>
          <a:lstStyle/>
          <a:p>
            <a:fld id="{27320E66-9187-0D4E-84DA-472BC55791FF}" type="slidenum">
              <a:rPr lang="en-US" smtClean="0"/>
              <a:t>‹#›</a:t>
            </a:fld>
            <a:endParaRPr lang="en-US"/>
          </a:p>
        </p:txBody>
      </p:sp>
    </p:spTree>
    <p:extLst>
      <p:ext uri="{BB962C8B-B14F-4D97-AF65-F5344CB8AC3E}">
        <p14:creationId xmlns:p14="http://schemas.microsoft.com/office/powerpoint/2010/main" val="20573886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1FA86-2EEC-E940-6D21-39FFB032A7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3543DF5-C713-7473-D804-AAB79FBA2917}"/>
              </a:ext>
            </a:extLst>
          </p:cNvPr>
          <p:cNvSpPr>
            <a:spLocks noGrp="1"/>
          </p:cNvSpPr>
          <p:nvPr>
            <p:ph type="dt" sz="half" idx="10"/>
          </p:nvPr>
        </p:nvSpPr>
        <p:spPr/>
        <p:txBody>
          <a:bodyPr/>
          <a:lstStyle/>
          <a:p>
            <a:fld id="{00271F3C-B153-9A41-9182-146617DD0480}" type="datetimeFigureOut">
              <a:rPr lang="en-US" smtClean="0"/>
              <a:t>4/29/25</a:t>
            </a:fld>
            <a:endParaRPr lang="en-US"/>
          </a:p>
        </p:txBody>
      </p:sp>
      <p:sp>
        <p:nvSpPr>
          <p:cNvPr id="4" name="Footer Placeholder 3">
            <a:extLst>
              <a:ext uri="{FF2B5EF4-FFF2-40B4-BE49-F238E27FC236}">
                <a16:creationId xmlns:a16="http://schemas.microsoft.com/office/drawing/2014/main" id="{E76A04D5-1C26-DECD-F797-C40BE84B76E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08F2DC7-CA0C-F0FA-1198-AC57F34C43C9}"/>
              </a:ext>
            </a:extLst>
          </p:cNvPr>
          <p:cNvSpPr>
            <a:spLocks noGrp="1"/>
          </p:cNvSpPr>
          <p:nvPr>
            <p:ph type="sldNum" sz="quarter" idx="12"/>
          </p:nvPr>
        </p:nvSpPr>
        <p:spPr/>
        <p:txBody>
          <a:bodyPr/>
          <a:lstStyle/>
          <a:p>
            <a:fld id="{27320E66-9187-0D4E-84DA-472BC55791FF}" type="slidenum">
              <a:rPr lang="en-US" smtClean="0"/>
              <a:t>‹#›</a:t>
            </a:fld>
            <a:endParaRPr lang="en-US"/>
          </a:p>
        </p:txBody>
      </p:sp>
    </p:spTree>
    <p:extLst>
      <p:ext uri="{BB962C8B-B14F-4D97-AF65-F5344CB8AC3E}">
        <p14:creationId xmlns:p14="http://schemas.microsoft.com/office/powerpoint/2010/main" val="25881511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8E6DE35-8991-2D6C-D5AB-EC15B9CFD421}"/>
              </a:ext>
            </a:extLst>
          </p:cNvPr>
          <p:cNvSpPr>
            <a:spLocks noGrp="1"/>
          </p:cNvSpPr>
          <p:nvPr>
            <p:ph type="dt" sz="half" idx="10"/>
          </p:nvPr>
        </p:nvSpPr>
        <p:spPr/>
        <p:txBody>
          <a:bodyPr/>
          <a:lstStyle/>
          <a:p>
            <a:fld id="{00271F3C-B153-9A41-9182-146617DD0480}" type="datetimeFigureOut">
              <a:rPr lang="en-US" smtClean="0"/>
              <a:t>4/29/25</a:t>
            </a:fld>
            <a:endParaRPr lang="en-US"/>
          </a:p>
        </p:txBody>
      </p:sp>
      <p:sp>
        <p:nvSpPr>
          <p:cNvPr id="3" name="Footer Placeholder 2">
            <a:extLst>
              <a:ext uri="{FF2B5EF4-FFF2-40B4-BE49-F238E27FC236}">
                <a16:creationId xmlns:a16="http://schemas.microsoft.com/office/drawing/2014/main" id="{82DE1D09-7661-644D-A7D2-F2FF0218A7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4D2AD0-CB0A-E2D5-62D2-C79C5467524D}"/>
              </a:ext>
            </a:extLst>
          </p:cNvPr>
          <p:cNvSpPr>
            <a:spLocks noGrp="1"/>
          </p:cNvSpPr>
          <p:nvPr>
            <p:ph type="sldNum" sz="quarter" idx="12"/>
          </p:nvPr>
        </p:nvSpPr>
        <p:spPr/>
        <p:txBody>
          <a:bodyPr/>
          <a:lstStyle/>
          <a:p>
            <a:fld id="{27320E66-9187-0D4E-84DA-472BC55791FF}" type="slidenum">
              <a:rPr lang="en-US" smtClean="0"/>
              <a:t>‹#›</a:t>
            </a:fld>
            <a:endParaRPr lang="en-US"/>
          </a:p>
        </p:txBody>
      </p:sp>
    </p:spTree>
    <p:extLst>
      <p:ext uri="{BB962C8B-B14F-4D97-AF65-F5344CB8AC3E}">
        <p14:creationId xmlns:p14="http://schemas.microsoft.com/office/powerpoint/2010/main" val="3968005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A6A2A-3387-10C3-8A61-812C5884B54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7AD7AD3-CB3F-1C54-4853-58006AD287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88CA27-80C6-16D0-50C1-1E12D0B166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DD34A0-160D-E734-E449-DDF52A95EF0A}"/>
              </a:ext>
            </a:extLst>
          </p:cNvPr>
          <p:cNvSpPr>
            <a:spLocks noGrp="1"/>
          </p:cNvSpPr>
          <p:nvPr>
            <p:ph type="dt" sz="half" idx="10"/>
          </p:nvPr>
        </p:nvSpPr>
        <p:spPr/>
        <p:txBody>
          <a:bodyPr/>
          <a:lstStyle/>
          <a:p>
            <a:fld id="{00271F3C-B153-9A41-9182-146617DD0480}" type="datetimeFigureOut">
              <a:rPr lang="en-US" smtClean="0"/>
              <a:t>4/29/25</a:t>
            </a:fld>
            <a:endParaRPr lang="en-US"/>
          </a:p>
        </p:txBody>
      </p:sp>
      <p:sp>
        <p:nvSpPr>
          <p:cNvPr id="6" name="Footer Placeholder 5">
            <a:extLst>
              <a:ext uri="{FF2B5EF4-FFF2-40B4-BE49-F238E27FC236}">
                <a16:creationId xmlns:a16="http://schemas.microsoft.com/office/drawing/2014/main" id="{B0F1A0B0-0EEB-70A2-EB48-6D501FED4F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4CC8F2-469F-FB8A-AD40-5BB046FF546D}"/>
              </a:ext>
            </a:extLst>
          </p:cNvPr>
          <p:cNvSpPr>
            <a:spLocks noGrp="1"/>
          </p:cNvSpPr>
          <p:nvPr>
            <p:ph type="sldNum" sz="quarter" idx="12"/>
          </p:nvPr>
        </p:nvSpPr>
        <p:spPr/>
        <p:txBody>
          <a:bodyPr/>
          <a:lstStyle/>
          <a:p>
            <a:fld id="{27320E66-9187-0D4E-84DA-472BC55791FF}" type="slidenum">
              <a:rPr lang="en-US" smtClean="0"/>
              <a:t>‹#›</a:t>
            </a:fld>
            <a:endParaRPr lang="en-US"/>
          </a:p>
        </p:txBody>
      </p:sp>
    </p:spTree>
    <p:extLst>
      <p:ext uri="{BB962C8B-B14F-4D97-AF65-F5344CB8AC3E}">
        <p14:creationId xmlns:p14="http://schemas.microsoft.com/office/powerpoint/2010/main" val="1266073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BB3C4-949A-5E69-2E8C-28DF50F29E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242CD10-947A-C3A1-4AAB-E8639811E9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8348A26-A4C3-CCE2-CA43-C5735F30FE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5D3CA5-B188-A1ED-88F8-C2101231D1C7}"/>
              </a:ext>
            </a:extLst>
          </p:cNvPr>
          <p:cNvSpPr>
            <a:spLocks noGrp="1"/>
          </p:cNvSpPr>
          <p:nvPr>
            <p:ph type="dt" sz="half" idx="10"/>
          </p:nvPr>
        </p:nvSpPr>
        <p:spPr/>
        <p:txBody>
          <a:bodyPr/>
          <a:lstStyle/>
          <a:p>
            <a:fld id="{00271F3C-B153-9A41-9182-146617DD0480}" type="datetimeFigureOut">
              <a:rPr lang="en-US" smtClean="0"/>
              <a:t>4/29/25</a:t>
            </a:fld>
            <a:endParaRPr lang="en-US"/>
          </a:p>
        </p:txBody>
      </p:sp>
      <p:sp>
        <p:nvSpPr>
          <p:cNvPr id="6" name="Footer Placeholder 5">
            <a:extLst>
              <a:ext uri="{FF2B5EF4-FFF2-40B4-BE49-F238E27FC236}">
                <a16:creationId xmlns:a16="http://schemas.microsoft.com/office/drawing/2014/main" id="{E48F204A-504A-0FEB-81D1-A906911812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47E789-427A-90D9-1456-71E7C57FB208}"/>
              </a:ext>
            </a:extLst>
          </p:cNvPr>
          <p:cNvSpPr>
            <a:spLocks noGrp="1"/>
          </p:cNvSpPr>
          <p:nvPr>
            <p:ph type="sldNum" sz="quarter" idx="12"/>
          </p:nvPr>
        </p:nvSpPr>
        <p:spPr/>
        <p:txBody>
          <a:bodyPr/>
          <a:lstStyle/>
          <a:p>
            <a:fld id="{27320E66-9187-0D4E-84DA-472BC55791FF}" type="slidenum">
              <a:rPr lang="en-US" smtClean="0"/>
              <a:t>‹#›</a:t>
            </a:fld>
            <a:endParaRPr lang="en-US"/>
          </a:p>
        </p:txBody>
      </p:sp>
    </p:spTree>
    <p:extLst>
      <p:ext uri="{BB962C8B-B14F-4D97-AF65-F5344CB8AC3E}">
        <p14:creationId xmlns:p14="http://schemas.microsoft.com/office/powerpoint/2010/main" val="2652131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220A3-C4AE-998D-FBBE-A5F0599A6A5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AEB44E2-C442-8B62-6FF1-EA8CE8FA78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037DBBE-A4C9-E323-346E-4216C2F06728}"/>
              </a:ext>
            </a:extLst>
          </p:cNvPr>
          <p:cNvSpPr>
            <a:spLocks noGrp="1"/>
          </p:cNvSpPr>
          <p:nvPr>
            <p:ph type="dt" sz="half" idx="10"/>
          </p:nvPr>
        </p:nvSpPr>
        <p:spPr/>
        <p:txBody>
          <a:bodyPr/>
          <a:lstStyle/>
          <a:p>
            <a:fld id="{00271F3C-B153-9A41-9182-146617DD0480}" type="datetimeFigureOut">
              <a:rPr lang="en-US" smtClean="0"/>
              <a:t>4/29/25</a:t>
            </a:fld>
            <a:endParaRPr lang="en-US"/>
          </a:p>
        </p:txBody>
      </p:sp>
      <p:sp>
        <p:nvSpPr>
          <p:cNvPr id="5" name="Footer Placeholder 4">
            <a:extLst>
              <a:ext uri="{FF2B5EF4-FFF2-40B4-BE49-F238E27FC236}">
                <a16:creationId xmlns:a16="http://schemas.microsoft.com/office/drawing/2014/main" id="{721DE507-B99B-4D8A-1156-CDC8AC8225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4556AF-DC39-8ADC-C1B9-C26AAE290D92}"/>
              </a:ext>
            </a:extLst>
          </p:cNvPr>
          <p:cNvSpPr>
            <a:spLocks noGrp="1"/>
          </p:cNvSpPr>
          <p:nvPr>
            <p:ph type="sldNum" sz="quarter" idx="12"/>
          </p:nvPr>
        </p:nvSpPr>
        <p:spPr/>
        <p:txBody>
          <a:bodyPr/>
          <a:lstStyle/>
          <a:p>
            <a:fld id="{27320E66-9187-0D4E-84DA-472BC55791FF}" type="slidenum">
              <a:rPr lang="en-US" smtClean="0"/>
              <a:t>‹#›</a:t>
            </a:fld>
            <a:endParaRPr lang="en-US"/>
          </a:p>
        </p:txBody>
      </p:sp>
    </p:spTree>
    <p:extLst>
      <p:ext uri="{BB962C8B-B14F-4D97-AF65-F5344CB8AC3E}">
        <p14:creationId xmlns:p14="http://schemas.microsoft.com/office/powerpoint/2010/main" val="434659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97A45B-323A-8990-335C-E8EFFE6B458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8FD4220-009F-F260-43C4-A3B5E59A3F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FDD79A-3C9E-F742-0282-A325E3077606}"/>
              </a:ext>
            </a:extLst>
          </p:cNvPr>
          <p:cNvSpPr>
            <a:spLocks noGrp="1"/>
          </p:cNvSpPr>
          <p:nvPr>
            <p:ph type="dt" sz="half" idx="10"/>
          </p:nvPr>
        </p:nvSpPr>
        <p:spPr/>
        <p:txBody>
          <a:bodyPr/>
          <a:lstStyle/>
          <a:p>
            <a:fld id="{00271F3C-B153-9A41-9182-146617DD0480}" type="datetimeFigureOut">
              <a:rPr lang="en-US" smtClean="0"/>
              <a:t>4/29/25</a:t>
            </a:fld>
            <a:endParaRPr lang="en-US"/>
          </a:p>
        </p:txBody>
      </p:sp>
      <p:sp>
        <p:nvSpPr>
          <p:cNvPr id="5" name="Footer Placeholder 4">
            <a:extLst>
              <a:ext uri="{FF2B5EF4-FFF2-40B4-BE49-F238E27FC236}">
                <a16:creationId xmlns:a16="http://schemas.microsoft.com/office/drawing/2014/main" id="{DAA7E884-DEBF-7E9B-CD40-288AE298DE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913784-2BE9-6DD6-142B-32B6276226AD}"/>
              </a:ext>
            </a:extLst>
          </p:cNvPr>
          <p:cNvSpPr>
            <a:spLocks noGrp="1"/>
          </p:cNvSpPr>
          <p:nvPr>
            <p:ph type="sldNum" sz="quarter" idx="12"/>
          </p:nvPr>
        </p:nvSpPr>
        <p:spPr/>
        <p:txBody>
          <a:bodyPr/>
          <a:lstStyle/>
          <a:p>
            <a:fld id="{27320E66-9187-0D4E-84DA-472BC55791FF}" type="slidenum">
              <a:rPr lang="en-US" smtClean="0"/>
              <a:t>‹#›</a:t>
            </a:fld>
            <a:endParaRPr lang="en-US"/>
          </a:p>
        </p:txBody>
      </p:sp>
    </p:spTree>
    <p:extLst>
      <p:ext uri="{BB962C8B-B14F-4D97-AF65-F5344CB8AC3E}">
        <p14:creationId xmlns:p14="http://schemas.microsoft.com/office/powerpoint/2010/main" val="160025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09F6FE-D8CA-C017-2684-7E2B864F9C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556A6F-F255-ED76-1DFE-D3CE43A9C8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DE8EBC-1379-D4EF-CA26-71007D1AC7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271F3C-B153-9A41-9182-146617DD0480}" type="datetimeFigureOut">
              <a:rPr lang="en-US" smtClean="0"/>
              <a:t>4/29/25</a:t>
            </a:fld>
            <a:endParaRPr lang="en-US"/>
          </a:p>
        </p:txBody>
      </p:sp>
      <p:sp>
        <p:nvSpPr>
          <p:cNvPr id="5" name="Footer Placeholder 4">
            <a:extLst>
              <a:ext uri="{FF2B5EF4-FFF2-40B4-BE49-F238E27FC236}">
                <a16:creationId xmlns:a16="http://schemas.microsoft.com/office/drawing/2014/main" id="{717DEF2E-D85D-A1C3-C2C1-36ACA6F8C1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DA304BD-B0E3-3DDF-1D77-CBE57A00E9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320E66-9187-0D4E-84DA-472BC55791FF}" type="slidenum">
              <a:rPr lang="en-US" smtClean="0"/>
              <a:t>‹#›</a:t>
            </a:fld>
            <a:endParaRPr lang="en-US"/>
          </a:p>
        </p:txBody>
      </p:sp>
    </p:spTree>
    <p:extLst>
      <p:ext uri="{BB962C8B-B14F-4D97-AF65-F5344CB8AC3E}">
        <p14:creationId xmlns:p14="http://schemas.microsoft.com/office/powerpoint/2010/main" val="14170633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12C1D-0F19-FCFF-CC75-0F65AAFD2610}"/>
              </a:ext>
            </a:extLst>
          </p:cNvPr>
          <p:cNvSpPr>
            <a:spLocks noGrp="1"/>
          </p:cNvSpPr>
          <p:nvPr>
            <p:ph type="ctrTitle"/>
          </p:nvPr>
        </p:nvSpPr>
        <p:spPr/>
        <p:txBody>
          <a:bodyPr>
            <a:normAutofit fontScale="90000"/>
          </a:bodyPr>
          <a:lstStyle/>
          <a:p>
            <a:r>
              <a:rPr lang="en-US" dirty="0"/>
              <a:t>Bacterial Changes in Bagged Romaine Lettuce After the Use By Date</a:t>
            </a:r>
          </a:p>
        </p:txBody>
      </p:sp>
      <p:sp>
        <p:nvSpPr>
          <p:cNvPr id="3" name="Subtitle 2">
            <a:extLst>
              <a:ext uri="{FF2B5EF4-FFF2-40B4-BE49-F238E27FC236}">
                <a16:creationId xmlns:a16="http://schemas.microsoft.com/office/drawing/2014/main" id="{73D02772-F258-9428-2CB4-6386DB947C78}"/>
              </a:ext>
            </a:extLst>
          </p:cNvPr>
          <p:cNvSpPr>
            <a:spLocks noGrp="1"/>
          </p:cNvSpPr>
          <p:nvPr>
            <p:ph type="subTitle" idx="1"/>
          </p:nvPr>
        </p:nvSpPr>
        <p:spPr/>
        <p:txBody>
          <a:bodyPr/>
          <a:lstStyle/>
          <a:p>
            <a:r>
              <a:rPr lang="en-US" dirty="0"/>
              <a:t>Hilal Samut</a:t>
            </a:r>
          </a:p>
          <a:p>
            <a:r>
              <a:rPr lang="en-US" dirty="0"/>
              <a:t>BIOMI6300</a:t>
            </a:r>
          </a:p>
          <a:p>
            <a:r>
              <a:rPr lang="en-US" dirty="0"/>
              <a:t>April 30, 2025</a:t>
            </a:r>
          </a:p>
        </p:txBody>
      </p:sp>
    </p:spTree>
    <p:extLst>
      <p:ext uri="{BB962C8B-B14F-4D97-AF65-F5344CB8AC3E}">
        <p14:creationId xmlns:p14="http://schemas.microsoft.com/office/powerpoint/2010/main" val="356538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8FABB-153E-71BC-877E-33E3B7929904}"/>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21F383FE-A26C-14AD-F6D1-EE8443DF20D5}"/>
              </a:ext>
            </a:extLst>
          </p:cNvPr>
          <p:cNvSpPr>
            <a:spLocks noGrp="1"/>
          </p:cNvSpPr>
          <p:nvPr>
            <p:ph idx="1"/>
          </p:nvPr>
        </p:nvSpPr>
        <p:spPr/>
        <p:txBody>
          <a:bodyPr>
            <a:normAutofit fontScale="85000" lnSpcReduction="20000"/>
          </a:bodyPr>
          <a:lstStyle/>
          <a:p>
            <a:r>
              <a:rPr lang="en-US" noProof="0" dirty="0"/>
              <a:t>Leafy greens are highly perishable and one of the most wasted commodities</a:t>
            </a:r>
          </a:p>
          <a:p>
            <a:pPr lvl="1"/>
            <a:r>
              <a:rPr lang="en-US" noProof="0" dirty="0"/>
              <a:t>Nearly 70% of leafy greens are wasted</a:t>
            </a:r>
          </a:p>
          <a:p>
            <a:r>
              <a:rPr lang="en-US" noProof="0" dirty="0"/>
              <a:t>Major driver of food waste for leafy greens: Confusion over </a:t>
            </a:r>
            <a:r>
              <a:rPr lang="en-US" b="1" noProof="0" dirty="0"/>
              <a:t>date labeling </a:t>
            </a:r>
          </a:p>
          <a:p>
            <a:pPr lvl="1"/>
            <a:r>
              <a:rPr lang="en-US" b="1" noProof="0" dirty="0"/>
              <a:t>Use By</a:t>
            </a:r>
            <a:r>
              <a:rPr lang="en-US" noProof="0" dirty="0"/>
              <a:t>: the date after which a product is no longer remaining sufficient quality and should not be consumed, but not necessarily associated with food safety</a:t>
            </a:r>
          </a:p>
          <a:p>
            <a:pPr lvl="1"/>
            <a:r>
              <a:rPr lang="en-US" b="1" noProof="0" dirty="0"/>
              <a:t>Best Before/Best if Used Before: </a:t>
            </a:r>
            <a:r>
              <a:rPr lang="en-US" noProof="0" dirty="0"/>
              <a:t>the date after which a product loses the best quality for consumption</a:t>
            </a:r>
          </a:p>
          <a:p>
            <a:pPr lvl="1"/>
            <a:r>
              <a:rPr lang="en-US" b="1" noProof="0" dirty="0"/>
              <a:t>Sell Before: </a:t>
            </a:r>
            <a:r>
              <a:rPr lang="en-US" noProof="0" dirty="0"/>
              <a:t>the last day on which a product should be sold</a:t>
            </a:r>
          </a:p>
          <a:p>
            <a:r>
              <a:rPr lang="en-US" noProof="0" dirty="0"/>
              <a:t>Many consumers discard produce past these dates, even if the food remains safe and of acceptable quality</a:t>
            </a:r>
          </a:p>
          <a:p>
            <a:r>
              <a:rPr lang="en-US" dirty="0"/>
              <a:t>Microbial spoilage plays a key role in food loss</a:t>
            </a:r>
          </a:p>
          <a:p>
            <a:r>
              <a:rPr lang="en-US" b="0" i="0" u="none" strike="noStrike" dirty="0">
                <a:solidFill>
                  <a:srgbClr val="282828"/>
                </a:solidFill>
                <a:effectLst/>
                <a:latin typeface="MuseoSans"/>
              </a:rPr>
              <a:t>The abundance of </a:t>
            </a:r>
            <a:r>
              <a:rPr lang="en-US" b="0" u="none" strike="noStrike" dirty="0">
                <a:solidFill>
                  <a:srgbClr val="282828"/>
                </a:solidFill>
                <a:effectLst/>
                <a:latin typeface="MuseoSans"/>
              </a:rPr>
              <a:t>spoilage microorganisms</a:t>
            </a:r>
            <a:r>
              <a:rPr lang="en-US" b="0" i="0" u="none" strike="noStrike" dirty="0">
                <a:solidFill>
                  <a:srgbClr val="282828"/>
                </a:solidFill>
                <a:effectLst/>
                <a:latin typeface="MuseoSans"/>
              </a:rPr>
              <a:t> increased in alfalfa after 3 weeks of cold storage at 4</a:t>
            </a:r>
            <a:r>
              <a:rPr lang="en-US" b="0" i="0" u="none" strike="noStrike" baseline="30000" dirty="0">
                <a:solidFill>
                  <a:srgbClr val="282828"/>
                </a:solidFill>
                <a:effectLst/>
                <a:latin typeface="MuseoSans"/>
              </a:rPr>
              <a:t>°</a:t>
            </a:r>
            <a:r>
              <a:rPr lang="en-US" b="0" i="0" u="none" strike="noStrike" dirty="0">
                <a:solidFill>
                  <a:srgbClr val="282828"/>
                </a:solidFill>
                <a:effectLst/>
                <a:latin typeface="MuseoSans"/>
              </a:rPr>
              <a:t>C</a:t>
            </a:r>
            <a:endParaRPr lang="en-US" dirty="0"/>
          </a:p>
          <a:p>
            <a:r>
              <a:rPr lang="en-US" b="1" dirty="0"/>
              <a:t>Research Gap: </a:t>
            </a:r>
            <a:r>
              <a:rPr lang="en-US" dirty="0"/>
              <a:t>Limited knowledge of microbial changes after Use By Date</a:t>
            </a:r>
          </a:p>
        </p:txBody>
      </p:sp>
    </p:spTree>
    <p:extLst>
      <p:ext uri="{BB962C8B-B14F-4D97-AF65-F5344CB8AC3E}">
        <p14:creationId xmlns:p14="http://schemas.microsoft.com/office/powerpoint/2010/main" val="292075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2CD08-AF90-C1D7-874F-EA5DB3756073}"/>
              </a:ext>
            </a:extLst>
          </p:cNvPr>
          <p:cNvSpPr>
            <a:spLocks noGrp="1"/>
          </p:cNvSpPr>
          <p:nvPr>
            <p:ph type="title"/>
          </p:nvPr>
        </p:nvSpPr>
        <p:spPr/>
        <p:txBody>
          <a:bodyPr/>
          <a:lstStyle/>
          <a:p>
            <a:r>
              <a:rPr lang="en-US" dirty="0"/>
              <a:t>Objectives</a:t>
            </a:r>
          </a:p>
        </p:txBody>
      </p:sp>
      <p:sp>
        <p:nvSpPr>
          <p:cNvPr id="3" name="Content Placeholder 2">
            <a:extLst>
              <a:ext uri="{FF2B5EF4-FFF2-40B4-BE49-F238E27FC236}">
                <a16:creationId xmlns:a16="http://schemas.microsoft.com/office/drawing/2014/main" id="{02783163-9638-EE31-E57C-F3393781B763}"/>
              </a:ext>
            </a:extLst>
          </p:cNvPr>
          <p:cNvSpPr>
            <a:spLocks noGrp="1"/>
          </p:cNvSpPr>
          <p:nvPr>
            <p:ph idx="1"/>
          </p:nvPr>
        </p:nvSpPr>
        <p:spPr/>
        <p:txBody>
          <a:bodyPr>
            <a:normAutofit fontScale="92500" lnSpcReduction="10000"/>
          </a:bodyPr>
          <a:lstStyle/>
          <a:p>
            <a:r>
              <a:rPr lang="en-US" dirty="0"/>
              <a:t>Characterize bacterial communities on bagged Romaine lettuce</a:t>
            </a:r>
          </a:p>
          <a:p>
            <a:r>
              <a:rPr lang="en-US" dirty="0"/>
              <a:t>Compare samples:</a:t>
            </a:r>
          </a:p>
          <a:p>
            <a:pPr lvl="1"/>
            <a:r>
              <a:rPr lang="en-US" dirty="0"/>
              <a:t>Early (Fall) vs. Late (Spring) season</a:t>
            </a:r>
          </a:p>
          <a:p>
            <a:pPr lvl="1"/>
            <a:r>
              <a:rPr lang="en-US" dirty="0"/>
              <a:t>Use By Date (UBD) vs 5 days-post UBD</a:t>
            </a:r>
          </a:p>
          <a:p>
            <a:r>
              <a:rPr lang="en-US" dirty="0"/>
              <a:t>How does the microbial biodiversity in chopped Romaine lettuce change with (</a:t>
            </a:r>
            <a:r>
              <a:rPr lang="en-US" dirty="0" err="1"/>
              <a:t>i</a:t>
            </a:r>
            <a:r>
              <a:rPr lang="en-US" dirty="0"/>
              <a:t>) </a:t>
            </a:r>
            <a:r>
              <a:rPr lang="en-US" b="1" dirty="0"/>
              <a:t>storage duration </a:t>
            </a:r>
            <a:r>
              <a:rPr lang="en-US" dirty="0"/>
              <a:t>and (ii) </a:t>
            </a:r>
            <a:r>
              <a:rPr lang="en-US" b="1" dirty="0"/>
              <a:t>harvest season of lettuce</a:t>
            </a:r>
            <a:r>
              <a:rPr lang="en-US" dirty="0"/>
              <a:t>?</a:t>
            </a:r>
          </a:p>
          <a:p>
            <a:pPr lvl="1"/>
            <a:r>
              <a:rPr lang="en-US" b="1" dirty="0"/>
              <a:t>Null hypothesis: </a:t>
            </a:r>
            <a:r>
              <a:rPr lang="en-US" dirty="0"/>
              <a:t>The microbial biodiversity doesn’t change with storage duration and harvest season.</a:t>
            </a:r>
          </a:p>
          <a:p>
            <a:pPr lvl="1"/>
            <a:r>
              <a:rPr lang="en-US" b="1" dirty="0"/>
              <a:t>Alternative Hypothesis #1: </a:t>
            </a:r>
            <a:r>
              <a:rPr lang="en-US" dirty="0"/>
              <a:t>A rich microbial biodiversity is expected in chopped lettuce tested at the UBD samples possibly due to die-off .</a:t>
            </a:r>
            <a:endParaRPr lang="en-US" b="1" dirty="0"/>
          </a:p>
          <a:p>
            <a:pPr lvl="1"/>
            <a:r>
              <a:rPr lang="en-US" b="1" dirty="0"/>
              <a:t>Alternative Hypothesis #2: </a:t>
            </a:r>
            <a:r>
              <a:rPr lang="en-US" dirty="0"/>
              <a:t>A rich microbial biodiversity is expected in chopped lettuce harvested in warmer seasons.</a:t>
            </a:r>
          </a:p>
          <a:p>
            <a:pPr lvl="1"/>
            <a:endParaRPr lang="en-US" dirty="0"/>
          </a:p>
        </p:txBody>
      </p:sp>
    </p:spTree>
    <p:extLst>
      <p:ext uri="{BB962C8B-B14F-4D97-AF65-F5344CB8AC3E}">
        <p14:creationId xmlns:p14="http://schemas.microsoft.com/office/powerpoint/2010/main" val="3538706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C9069-9B2D-6CFB-5071-59CD9C406424}"/>
              </a:ext>
            </a:extLst>
          </p:cNvPr>
          <p:cNvSpPr>
            <a:spLocks noGrp="1"/>
          </p:cNvSpPr>
          <p:nvPr>
            <p:ph type="title"/>
          </p:nvPr>
        </p:nvSpPr>
        <p:spPr/>
        <p:txBody>
          <a:bodyPr>
            <a:noAutofit/>
          </a:bodyPr>
          <a:lstStyle/>
          <a:p>
            <a:r>
              <a:rPr lang="en-US" sz="4000" dirty="0"/>
              <a:t>Romaine stored 5-days-post UBD had slightly higher richness and had more dominant members. </a:t>
            </a:r>
          </a:p>
        </p:txBody>
      </p:sp>
      <p:sp>
        <p:nvSpPr>
          <p:cNvPr id="8" name="TextBox 7">
            <a:extLst>
              <a:ext uri="{FF2B5EF4-FFF2-40B4-BE49-F238E27FC236}">
                <a16:creationId xmlns:a16="http://schemas.microsoft.com/office/drawing/2014/main" id="{0CE9DB57-FB03-1EF5-CD84-1CA77D6E4057}"/>
              </a:ext>
            </a:extLst>
          </p:cNvPr>
          <p:cNvSpPr txBox="1"/>
          <p:nvPr/>
        </p:nvSpPr>
        <p:spPr>
          <a:xfrm>
            <a:off x="7772400" y="1690688"/>
            <a:ext cx="4419600" cy="4452501"/>
          </a:xfrm>
          <a:prstGeom prst="rect">
            <a:avLst/>
          </a:prstGeom>
          <a:noFill/>
        </p:spPr>
        <p:txBody>
          <a:bodyPr wrap="square">
            <a:spAutoFit/>
          </a:bodyPr>
          <a:lstStyle/>
          <a:p>
            <a:pPr algn="l">
              <a:spcAft>
                <a:spcPts val="750"/>
              </a:spcAft>
              <a:buNone/>
            </a:pPr>
            <a:r>
              <a:rPr lang="en-US" b="1" i="0" u="none" strike="noStrike" dirty="0">
                <a:effectLst/>
                <a:latin typeface="Aptos" panose="020B0004020202020204" pitchFamily="34" charset="0"/>
              </a:rPr>
              <a:t>Storage duration</a:t>
            </a:r>
            <a:r>
              <a:rPr lang="en-US" b="1" dirty="0">
                <a:latin typeface="Aptos" panose="020B0004020202020204" pitchFamily="34" charset="0"/>
              </a:rPr>
              <a:t>:</a:t>
            </a:r>
            <a:endParaRPr lang="en-US" b="1" i="0" u="none" strike="noStrike" dirty="0">
              <a:effectLst/>
              <a:latin typeface="Aptos" panose="020B0004020202020204" pitchFamily="34" charset="0"/>
            </a:endParaRPr>
          </a:p>
          <a:p>
            <a:pPr algn="l">
              <a:spcAft>
                <a:spcPts val="750"/>
              </a:spcAft>
              <a:buFont typeface="Arial" panose="020B0604020202020204" pitchFamily="34" charset="0"/>
              <a:buChar char="•"/>
            </a:pPr>
            <a:r>
              <a:rPr lang="en-US" b="1" i="0" u="none" strike="noStrike" dirty="0">
                <a:effectLst/>
                <a:latin typeface="Aptos" panose="020B0004020202020204" pitchFamily="34" charset="0"/>
              </a:rPr>
              <a:t>Richness (q = 0): </a:t>
            </a:r>
            <a:r>
              <a:rPr lang="en-US" b="0" i="0" u="none" strike="noStrike" dirty="0">
                <a:effectLst/>
                <a:latin typeface="Aptos" panose="020B0004020202020204" pitchFamily="34" charset="0"/>
              </a:rPr>
              <a:t>UBD</a:t>
            </a:r>
            <a:r>
              <a:rPr lang="en-US" dirty="0">
                <a:latin typeface="Aptos" panose="020B0004020202020204" pitchFamily="34" charset="0"/>
              </a:rPr>
              <a:t>5</a:t>
            </a:r>
            <a:r>
              <a:rPr lang="en-US" b="0" i="0" u="none" strike="noStrike" dirty="0">
                <a:effectLst/>
                <a:latin typeface="Aptos" panose="020B0004020202020204" pitchFamily="34" charset="0"/>
              </a:rPr>
              <a:t> samples tend to have slightly higher richness than UBD samples. However, the difference is not very strong. Lettuce samples stored beyond their UBD may have slightly higher microbial richness</a:t>
            </a:r>
            <a:r>
              <a:rPr lang="en-US" dirty="0">
                <a:latin typeface="Aptos" panose="020B0004020202020204" pitchFamily="34" charset="0"/>
              </a:rPr>
              <a:t>. </a:t>
            </a:r>
            <a:endParaRPr lang="en-US" b="0" i="0" u="none" strike="noStrike" dirty="0">
              <a:effectLst/>
              <a:latin typeface="Aptos" panose="020B0004020202020204" pitchFamily="34" charset="0"/>
            </a:endParaRPr>
          </a:p>
          <a:p>
            <a:pPr>
              <a:spcAft>
                <a:spcPts val="750"/>
              </a:spcAft>
              <a:buFont typeface="Arial" panose="020B0604020202020204" pitchFamily="34" charset="0"/>
              <a:buChar char="•"/>
            </a:pPr>
            <a:r>
              <a:rPr lang="en-US" b="1" i="0" u="none" strike="noStrike" dirty="0">
                <a:effectLst/>
                <a:latin typeface="Aptos" panose="020B0004020202020204" pitchFamily="34" charset="0"/>
              </a:rPr>
              <a:t>Simpson (q = 2):</a:t>
            </a:r>
            <a:r>
              <a:rPr lang="en-US" b="0" i="0" u="none" strike="noStrike" dirty="0">
                <a:effectLst/>
                <a:latin typeface="Aptos" panose="020B0004020202020204" pitchFamily="34" charset="0"/>
              </a:rPr>
              <a:t> UBD5 samples showed higher Simpson diversity compared to UBD samples. In terms of dominant community members, lettuce samples becomes more diverse by a few taxa 5 days beyond the use by date, suggesting a shift in the microbial community where no single group outcompetes others better.</a:t>
            </a:r>
          </a:p>
        </p:txBody>
      </p:sp>
      <p:pic>
        <p:nvPicPr>
          <p:cNvPr id="9" name="Picture 8">
            <a:extLst>
              <a:ext uri="{FF2B5EF4-FFF2-40B4-BE49-F238E27FC236}">
                <a16:creationId xmlns:a16="http://schemas.microsoft.com/office/drawing/2014/main" id="{E945B868-6DE2-BBC4-9A93-4BE4956CD875}"/>
              </a:ext>
            </a:extLst>
          </p:cNvPr>
          <p:cNvPicPr>
            <a:picLocks noChangeAspect="1"/>
          </p:cNvPicPr>
          <p:nvPr/>
        </p:nvPicPr>
        <p:blipFill>
          <a:blip r:embed="rId2"/>
          <a:stretch>
            <a:fillRect/>
          </a:stretch>
        </p:blipFill>
        <p:spPr>
          <a:xfrm>
            <a:off x="0" y="2250837"/>
            <a:ext cx="7772400" cy="3886200"/>
          </a:xfrm>
          <a:prstGeom prst="rect">
            <a:avLst/>
          </a:prstGeom>
        </p:spPr>
      </p:pic>
    </p:spTree>
    <p:extLst>
      <p:ext uri="{BB962C8B-B14F-4D97-AF65-F5344CB8AC3E}">
        <p14:creationId xmlns:p14="http://schemas.microsoft.com/office/powerpoint/2010/main" val="3922042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650AD-C93D-8AD7-33DE-5159E92A6A68}"/>
              </a:ext>
            </a:extLst>
          </p:cNvPr>
          <p:cNvSpPr>
            <a:spLocks noGrp="1"/>
          </p:cNvSpPr>
          <p:nvPr>
            <p:ph type="title"/>
          </p:nvPr>
        </p:nvSpPr>
        <p:spPr>
          <a:xfrm>
            <a:off x="558800" y="365125"/>
            <a:ext cx="10795000" cy="1325563"/>
          </a:xfrm>
        </p:spPr>
        <p:txBody>
          <a:bodyPr>
            <a:normAutofit fontScale="90000"/>
          </a:bodyPr>
          <a:lstStyle/>
          <a:p>
            <a:r>
              <a:rPr lang="en-US" dirty="0"/>
              <a:t>Romaine harvested in early season had significantly higher richness and had more dominant members. </a:t>
            </a:r>
          </a:p>
        </p:txBody>
      </p:sp>
      <p:pic>
        <p:nvPicPr>
          <p:cNvPr id="4" name="Picture 3">
            <a:extLst>
              <a:ext uri="{FF2B5EF4-FFF2-40B4-BE49-F238E27FC236}">
                <a16:creationId xmlns:a16="http://schemas.microsoft.com/office/drawing/2014/main" id="{091BE4C6-74BE-74FC-5437-54224E04B7A8}"/>
              </a:ext>
            </a:extLst>
          </p:cNvPr>
          <p:cNvPicPr>
            <a:picLocks noChangeAspect="1"/>
          </p:cNvPicPr>
          <p:nvPr/>
        </p:nvPicPr>
        <p:blipFill>
          <a:blip r:embed="rId2"/>
          <a:stretch>
            <a:fillRect/>
          </a:stretch>
        </p:blipFill>
        <p:spPr>
          <a:xfrm>
            <a:off x="0" y="2058194"/>
            <a:ext cx="7772400" cy="3886200"/>
          </a:xfrm>
          <a:prstGeom prst="rect">
            <a:avLst/>
          </a:prstGeom>
        </p:spPr>
      </p:pic>
      <p:sp>
        <p:nvSpPr>
          <p:cNvPr id="6" name="TextBox 5">
            <a:extLst>
              <a:ext uri="{FF2B5EF4-FFF2-40B4-BE49-F238E27FC236}">
                <a16:creationId xmlns:a16="http://schemas.microsoft.com/office/drawing/2014/main" id="{8AECEFA1-9FF6-19A6-52D3-578F48EF0159}"/>
              </a:ext>
            </a:extLst>
          </p:cNvPr>
          <p:cNvSpPr txBox="1"/>
          <p:nvPr/>
        </p:nvSpPr>
        <p:spPr>
          <a:xfrm>
            <a:off x="7772400" y="1690688"/>
            <a:ext cx="4254500" cy="5283498"/>
          </a:xfrm>
          <a:prstGeom prst="rect">
            <a:avLst/>
          </a:prstGeom>
          <a:noFill/>
        </p:spPr>
        <p:txBody>
          <a:bodyPr wrap="square">
            <a:spAutoFit/>
          </a:bodyPr>
          <a:lstStyle/>
          <a:p>
            <a:pPr algn="l">
              <a:spcAft>
                <a:spcPts val="750"/>
              </a:spcAft>
              <a:buNone/>
            </a:pPr>
            <a:r>
              <a:rPr lang="en-US" b="1" i="0" u="none" strike="noStrike" dirty="0">
                <a:effectLst/>
                <a:latin typeface="Aptos" panose="020B0004020202020204" pitchFamily="34" charset="0"/>
              </a:rPr>
              <a:t>Seasonal effects</a:t>
            </a:r>
            <a:r>
              <a:rPr lang="en-US" b="1" dirty="0">
                <a:latin typeface="Aptos" panose="020B0004020202020204" pitchFamily="34" charset="0"/>
              </a:rPr>
              <a:t>:</a:t>
            </a:r>
            <a:endParaRPr lang="en-US" b="1" i="0" u="none" strike="noStrike" dirty="0">
              <a:effectLst/>
              <a:latin typeface="Aptos" panose="020B0004020202020204" pitchFamily="34" charset="0"/>
            </a:endParaRPr>
          </a:p>
          <a:p>
            <a:pPr algn="l">
              <a:spcAft>
                <a:spcPts val="750"/>
              </a:spcAft>
              <a:buFont typeface="Arial" panose="020B0604020202020204" pitchFamily="34" charset="0"/>
              <a:buChar char="•"/>
            </a:pPr>
            <a:r>
              <a:rPr lang="en-US" b="1" i="0" u="none" strike="noStrike" dirty="0">
                <a:effectLst/>
                <a:latin typeface="Aptos" panose="020B0004020202020204" pitchFamily="34" charset="0"/>
              </a:rPr>
              <a:t>Richness (q=0): </a:t>
            </a:r>
            <a:r>
              <a:rPr lang="en-US" i="0" u="none" strike="noStrike" dirty="0">
                <a:effectLst/>
                <a:latin typeface="Aptos" panose="020B0004020202020204" pitchFamily="34" charset="0"/>
              </a:rPr>
              <a:t>Early (Fall) </a:t>
            </a:r>
            <a:r>
              <a:rPr lang="en-US" b="0" i="0" u="none" strike="noStrike" dirty="0">
                <a:effectLst/>
                <a:latin typeface="Aptos" panose="020B0004020202020204" pitchFamily="34" charset="0"/>
              </a:rPr>
              <a:t>samples have higher ASV richness compared to Late (Spring) ones, which means more unique ASVs were detected in Fall samples. </a:t>
            </a:r>
            <a:r>
              <a:rPr lang="en-US" i="0" u="none" strike="noStrike" dirty="0">
                <a:effectLst/>
                <a:latin typeface="Aptos" panose="020B0004020202020204" pitchFamily="34" charset="0"/>
              </a:rPr>
              <a:t>Seasonal</a:t>
            </a:r>
            <a:r>
              <a:rPr lang="en-US" b="0" i="0" u="none" strike="noStrike" dirty="0">
                <a:effectLst/>
                <a:latin typeface="Aptos" panose="020B0004020202020204" pitchFamily="34" charset="0"/>
              </a:rPr>
              <a:t> differences seem to affect rare species presence and Fall season has more diverse but possibly rare microbial communities.</a:t>
            </a:r>
          </a:p>
          <a:p>
            <a:pPr algn="l">
              <a:spcAft>
                <a:spcPts val="750"/>
              </a:spcAft>
              <a:buFont typeface="Arial" panose="020B0604020202020204" pitchFamily="34" charset="0"/>
              <a:buChar char="•"/>
            </a:pPr>
            <a:r>
              <a:rPr lang="en-US" b="1" i="0" u="none" strike="noStrike" dirty="0">
                <a:effectLst/>
                <a:latin typeface="Aptos" panose="020B0004020202020204" pitchFamily="34" charset="0"/>
              </a:rPr>
              <a:t>Simpson</a:t>
            </a:r>
            <a:r>
              <a:rPr lang="en-US" b="0" i="0" u="none" strike="noStrike" dirty="0">
                <a:effectLst/>
                <a:latin typeface="Aptos" panose="020B0004020202020204" pitchFamily="34" charset="0"/>
              </a:rPr>
              <a:t> </a:t>
            </a:r>
            <a:r>
              <a:rPr lang="en-US" b="1" i="0" u="none" strike="noStrike" dirty="0">
                <a:effectLst/>
                <a:latin typeface="Aptos" panose="020B0004020202020204" pitchFamily="34" charset="0"/>
              </a:rPr>
              <a:t>(q = 2)</a:t>
            </a:r>
            <a:r>
              <a:rPr lang="en-US" dirty="0">
                <a:latin typeface="Aptos" panose="020B0004020202020204" pitchFamily="34" charset="0"/>
              </a:rPr>
              <a:t>:</a:t>
            </a:r>
            <a:r>
              <a:rPr lang="en-US" b="0" i="0" u="none" strike="noStrike" dirty="0">
                <a:effectLst/>
                <a:latin typeface="Aptos" panose="020B0004020202020204" pitchFamily="34" charset="0"/>
              </a:rPr>
              <a:t> Early </a:t>
            </a:r>
            <a:r>
              <a:rPr lang="en-US" dirty="0">
                <a:latin typeface="Aptos" panose="020B0004020202020204" pitchFamily="34" charset="0"/>
                <a:sym typeface="Wingdings" pitchFamily="2" charset="2"/>
              </a:rPr>
              <a:t>(Fall) samples showed higher S</a:t>
            </a:r>
            <a:r>
              <a:rPr lang="en-US" b="0" i="0" u="none" strike="noStrike" dirty="0">
                <a:effectLst/>
                <a:latin typeface="Aptos" panose="020B0004020202020204" pitchFamily="34" charset="0"/>
              </a:rPr>
              <a:t>impson diversity compared to Spring (Early) samples. In terms of dominant community members, Romaine displayed more diverse community members, so this suggests that dominant species were similar across seasons, though still more diverse in Fall.</a:t>
            </a:r>
          </a:p>
        </p:txBody>
      </p:sp>
    </p:spTree>
    <p:extLst>
      <p:ext uri="{BB962C8B-B14F-4D97-AF65-F5344CB8AC3E}">
        <p14:creationId xmlns:p14="http://schemas.microsoft.com/office/powerpoint/2010/main" val="1236936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77AC7-A872-E521-F90F-92173BDBFBC6}"/>
              </a:ext>
            </a:extLst>
          </p:cNvPr>
          <p:cNvSpPr>
            <a:spLocks noGrp="1"/>
          </p:cNvSpPr>
          <p:nvPr>
            <p:ph type="title"/>
          </p:nvPr>
        </p:nvSpPr>
        <p:spPr/>
        <p:txBody>
          <a:bodyPr>
            <a:normAutofit fontScale="90000"/>
          </a:bodyPr>
          <a:lstStyle/>
          <a:p>
            <a:r>
              <a:rPr lang="en-US" sz="4400" dirty="0"/>
              <a:t>How does the microbial biodiversity in chopped Romaine lettuce change with (</a:t>
            </a:r>
            <a:r>
              <a:rPr lang="en-US" sz="4400" dirty="0" err="1"/>
              <a:t>i</a:t>
            </a:r>
            <a:r>
              <a:rPr lang="en-US" sz="4400" dirty="0"/>
              <a:t>) </a:t>
            </a:r>
            <a:r>
              <a:rPr lang="en-US" sz="4400" b="1" dirty="0"/>
              <a:t>storage duration </a:t>
            </a:r>
            <a:r>
              <a:rPr lang="en-US" sz="4400" dirty="0"/>
              <a:t>and (ii) </a:t>
            </a:r>
            <a:r>
              <a:rPr lang="en-US" sz="4400" b="1" dirty="0"/>
              <a:t>harvest season of lettuce</a:t>
            </a:r>
            <a:r>
              <a:rPr lang="en-US" sz="4400" dirty="0"/>
              <a:t>?</a:t>
            </a:r>
          </a:p>
        </p:txBody>
      </p:sp>
      <p:sp>
        <p:nvSpPr>
          <p:cNvPr id="3" name="Content Placeholder 2">
            <a:extLst>
              <a:ext uri="{FF2B5EF4-FFF2-40B4-BE49-F238E27FC236}">
                <a16:creationId xmlns:a16="http://schemas.microsoft.com/office/drawing/2014/main" id="{540E8AAD-EF68-D179-5835-D73DD8288834}"/>
              </a:ext>
            </a:extLst>
          </p:cNvPr>
          <p:cNvSpPr>
            <a:spLocks noGrp="1"/>
          </p:cNvSpPr>
          <p:nvPr>
            <p:ph idx="1"/>
          </p:nvPr>
        </p:nvSpPr>
        <p:spPr>
          <a:xfrm>
            <a:off x="838200" y="1978025"/>
            <a:ext cx="10515600" cy="4351338"/>
          </a:xfrm>
        </p:spPr>
        <p:txBody>
          <a:bodyPr>
            <a:normAutofit fontScale="92500" lnSpcReduction="20000"/>
          </a:bodyPr>
          <a:lstStyle/>
          <a:p>
            <a:r>
              <a:rPr lang="en-US" sz="2400" dirty="0"/>
              <a:t>Null Hypothesis: Microbial composition does not differ (</a:t>
            </a:r>
            <a:r>
              <a:rPr lang="en-US" sz="2400" dirty="0" err="1"/>
              <a:t>i</a:t>
            </a:r>
            <a:r>
              <a:rPr lang="en-US" sz="2400" dirty="0"/>
              <a:t>) for prolonged storage durations after UBD for chopped Romaine lettuce and (ii) between harvest seasons </a:t>
            </a:r>
          </a:p>
          <a:p>
            <a:r>
              <a:rPr lang="en-US" sz="2400" dirty="0"/>
              <a:t>Alternative Hypothesis #1: </a:t>
            </a:r>
          </a:p>
          <a:p>
            <a:pPr lvl="1"/>
            <a:r>
              <a:rPr lang="en-US" dirty="0"/>
              <a:t>Microbial composition during prolonged storage is driven by </a:t>
            </a:r>
            <a:r>
              <a:rPr lang="en-US" b="1" dirty="0"/>
              <a:t>presence or absence of rare taxa </a:t>
            </a:r>
            <a:r>
              <a:rPr lang="en-US" dirty="0"/>
              <a:t>(i.e., Sorensen), with increased dissimilarity in the samples collected in UBD5 samples. </a:t>
            </a:r>
          </a:p>
          <a:p>
            <a:pPr lvl="1"/>
            <a:r>
              <a:rPr lang="en-US" b="1" dirty="0"/>
              <a:t>Dominant members </a:t>
            </a:r>
            <a:r>
              <a:rPr lang="en-US" dirty="0"/>
              <a:t>of the microbial community (i.e., Bray-Curtis) are unique in UBD5 samples.</a:t>
            </a:r>
            <a:endParaRPr lang="en-US" sz="2000" dirty="0"/>
          </a:p>
          <a:p>
            <a:r>
              <a:rPr lang="en-US" sz="2400" dirty="0"/>
              <a:t>Alternative Hypothesis #2: </a:t>
            </a:r>
          </a:p>
          <a:p>
            <a:pPr lvl="1"/>
            <a:r>
              <a:rPr lang="en-US" b="1" dirty="0"/>
              <a:t>Presence or absence of rare taxa </a:t>
            </a:r>
            <a:r>
              <a:rPr lang="en-US" dirty="0"/>
              <a:t>drives seasonal differences in microbial composition (i.e., Sorensen), with increased dissimilarity in the samples collected in late/spring seasons.</a:t>
            </a:r>
          </a:p>
          <a:p>
            <a:pPr lvl="1"/>
            <a:r>
              <a:rPr lang="en-US" b="1" dirty="0"/>
              <a:t>Dominant members </a:t>
            </a:r>
            <a:r>
              <a:rPr lang="en-US" dirty="0"/>
              <a:t>of the microbial community (i.e., Bray-Curtis) are unique in late/spring seasons.</a:t>
            </a:r>
          </a:p>
        </p:txBody>
      </p:sp>
    </p:spTree>
    <p:extLst>
      <p:ext uri="{BB962C8B-B14F-4D97-AF65-F5344CB8AC3E}">
        <p14:creationId xmlns:p14="http://schemas.microsoft.com/office/powerpoint/2010/main" val="989330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E658A-4313-7405-DB07-151A6CEDDDC3}"/>
              </a:ext>
            </a:extLst>
          </p:cNvPr>
          <p:cNvSpPr>
            <a:spLocks noGrp="1"/>
          </p:cNvSpPr>
          <p:nvPr>
            <p:ph type="title"/>
          </p:nvPr>
        </p:nvSpPr>
        <p:spPr/>
        <p:txBody>
          <a:bodyPr>
            <a:normAutofit fontScale="90000"/>
          </a:bodyPr>
          <a:lstStyle/>
          <a:p>
            <a:r>
              <a:rPr lang="en-US" dirty="0"/>
              <a:t>Harvest season drives microbial community shifts on chopped Romaine, while storage duration plays a minor role. </a:t>
            </a:r>
          </a:p>
        </p:txBody>
      </p:sp>
      <p:pic>
        <p:nvPicPr>
          <p:cNvPr id="5" name="Picture 4">
            <a:extLst>
              <a:ext uri="{FF2B5EF4-FFF2-40B4-BE49-F238E27FC236}">
                <a16:creationId xmlns:a16="http://schemas.microsoft.com/office/drawing/2014/main" id="{BDCD07F0-A021-0352-8243-808C8D84BEA7}"/>
              </a:ext>
            </a:extLst>
          </p:cNvPr>
          <p:cNvPicPr>
            <a:picLocks noChangeAspect="1"/>
          </p:cNvPicPr>
          <p:nvPr/>
        </p:nvPicPr>
        <p:blipFill>
          <a:blip r:embed="rId3"/>
          <a:stretch>
            <a:fillRect/>
          </a:stretch>
        </p:blipFill>
        <p:spPr>
          <a:xfrm>
            <a:off x="0" y="2808466"/>
            <a:ext cx="7772400" cy="3886200"/>
          </a:xfrm>
          <a:prstGeom prst="rect">
            <a:avLst/>
          </a:prstGeom>
        </p:spPr>
      </p:pic>
      <p:sp>
        <p:nvSpPr>
          <p:cNvPr id="6" name="TextBox 5">
            <a:extLst>
              <a:ext uri="{FF2B5EF4-FFF2-40B4-BE49-F238E27FC236}">
                <a16:creationId xmlns:a16="http://schemas.microsoft.com/office/drawing/2014/main" id="{701B45A6-4A50-2C8B-9A55-C4AE1378C173}"/>
              </a:ext>
            </a:extLst>
          </p:cNvPr>
          <p:cNvSpPr txBox="1"/>
          <p:nvPr/>
        </p:nvSpPr>
        <p:spPr>
          <a:xfrm>
            <a:off x="7531416" y="1369318"/>
            <a:ext cx="4660584" cy="5488682"/>
          </a:xfrm>
          <a:prstGeom prst="rect">
            <a:avLst/>
          </a:prstGeom>
          <a:noFill/>
        </p:spPr>
        <p:txBody>
          <a:bodyPr wrap="square">
            <a:spAutoFit/>
          </a:bodyPr>
          <a:lstStyle/>
          <a:p>
            <a:pPr algn="l">
              <a:spcAft>
                <a:spcPts val="750"/>
              </a:spcAft>
              <a:buNone/>
            </a:pPr>
            <a:r>
              <a:rPr lang="en-US" b="1" i="0" u="none" strike="noStrike" dirty="0">
                <a:effectLst/>
                <a:latin typeface="Aptos" panose="020B0004020202020204" pitchFamily="34" charset="0"/>
              </a:rPr>
              <a:t>Harvest season </a:t>
            </a:r>
            <a:r>
              <a:rPr lang="en-US" b="0" i="0" u="none" strike="noStrike" dirty="0">
                <a:effectLst/>
                <a:latin typeface="Aptos" panose="020B0004020202020204" pitchFamily="34" charset="0"/>
              </a:rPr>
              <a:t>explained the largest proportion of the variation in microbial community</a:t>
            </a:r>
          </a:p>
          <a:p>
            <a:pPr marL="285750" indent="-285750" algn="l">
              <a:spcAft>
                <a:spcPts val="750"/>
              </a:spcAft>
              <a:buFont typeface="Arial" panose="020B0604020202020204" pitchFamily="34" charset="0"/>
              <a:buChar char="•"/>
            </a:pPr>
            <a:r>
              <a:rPr lang="en-US" b="0" i="0" u="none" strike="noStrike" dirty="0">
                <a:effectLst/>
                <a:latin typeface="Aptos" panose="020B0004020202020204" pitchFamily="34" charset="0"/>
              </a:rPr>
              <a:t>The time of year (i.e., fall vs spring) plays a key role in determining which microbial taxa are present on chopped Romaine lettuce. </a:t>
            </a:r>
          </a:p>
          <a:p>
            <a:pPr marL="285750" indent="-285750" algn="l">
              <a:spcAft>
                <a:spcPts val="750"/>
              </a:spcAft>
              <a:buFont typeface="Arial" panose="020B0604020202020204" pitchFamily="34" charset="0"/>
              <a:buChar char="•"/>
            </a:pPr>
            <a:r>
              <a:rPr lang="en-US" b="0" i="0" u="none" strike="noStrike" dirty="0">
                <a:effectLst/>
                <a:latin typeface="Aptos" panose="020B0004020202020204" pitchFamily="34" charset="0"/>
              </a:rPr>
              <a:t>The seasonal shifts may reflect differences in environmental conditions (e.g., ambient temperature, rainfall, field management) influencing microbial colonization and persistence. </a:t>
            </a:r>
          </a:p>
          <a:p>
            <a:pPr algn="l">
              <a:spcAft>
                <a:spcPts val="750"/>
              </a:spcAft>
            </a:pPr>
            <a:r>
              <a:rPr lang="en-US" b="1" i="0" u="none" strike="noStrike" dirty="0">
                <a:effectLst/>
                <a:latin typeface="Aptos" panose="020B0004020202020204" pitchFamily="34" charset="0"/>
              </a:rPr>
              <a:t>Storage time </a:t>
            </a:r>
            <a:r>
              <a:rPr lang="en-US" i="0" u="none" strike="noStrike" dirty="0">
                <a:effectLst/>
                <a:latin typeface="Aptos" panose="020B0004020202020204" pitchFamily="34" charset="0"/>
              </a:rPr>
              <a:t>significantly influences microbial composition explaining only a small proportion of variation. </a:t>
            </a:r>
          </a:p>
          <a:p>
            <a:pPr marL="285750" indent="-285750" algn="l">
              <a:spcAft>
                <a:spcPts val="750"/>
              </a:spcAft>
              <a:buFont typeface="Arial" panose="020B0604020202020204" pitchFamily="34" charset="0"/>
              <a:buChar char="•"/>
            </a:pPr>
            <a:r>
              <a:rPr lang="en-US" dirty="0">
                <a:latin typeface="Aptos" panose="020B0004020202020204" pitchFamily="34" charset="0"/>
              </a:rPr>
              <a:t>T</a:t>
            </a:r>
            <a:r>
              <a:rPr lang="en-US" b="0" i="0" u="none" strike="noStrike" dirty="0">
                <a:effectLst/>
                <a:latin typeface="Aptos" panose="020B0004020202020204" pitchFamily="34" charset="0"/>
              </a:rPr>
              <a:t>emporal microbial changes during storage are less impactful than the differences introduced by harvest season. </a:t>
            </a:r>
            <a:endParaRPr lang="en-US" b="1" i="0" u="none" strike="noStrike" dirty="0">
              <a:effectLst/>
              <a:latin typeface="Aptos" panose="020B0004020202020204" pitchFamily="34" charset="0"/>
            </a:endParaRPr>
          </a:p>
        </p:txBody>
      </p:sp>
      <p:sp>
        <p:nvSpPr>
          <p:cNvPr id="8" name="TextBox 7">
            <a:extLst>
              <a:ext uri="{FF2B5EF4-FFF2-40B4-BE49-F238E27FC236}">
                <a16:creationId xmlns:a16="http://schemas.microsoft.com/office/drawing/2014/main" id="{13E3F741-E5BF-7B48-5E9B-73CECF4FEB46}"/>
              </a:ext>
            </a:extLst>
          </p:cNvPr>
          <p:cNvSpPr txBox="1"/>
          <p:nvPr/>
        </p:nvSpPr>
        <p:spPr>
          <a:xfrm>
            <a:off x="89216" y="2069802"/>
            <a:ext cx="3460434" cy="1477328"/>
          </a:xfrm>
          <a:prstGeom prst="rect">
            <a:avLst/>
          </a:prstGeom>
          <a:noFill/>
        </p:spPr>
        <p:txBody>
          <a:bodyPr wrap="none" rtlCol="0">
            <a:spAutoFit/>
          </a:bodyPr>
          <a:lstStyle/>
          <a:p>
            <a:r>
              <a:rPr lang="en-US" dirty="0"/>
              <a:t>Sorensen Dissimilarity:</a:t>
            </a:r>
          </a:p>
          <a:p>
            <a:r>
              <a:rPr lang="en-US" b="1" dirty="0"/>
              <a:t>Season</a:t>
            </a:r>
            <a:r>
              <a:rPr lang="en-US" dirty="0"/>
              <a:t>: R</a:t>
            </a:r>
            <a:r>
              <a:rPr lang="en-US" baseline="30000" dirty="0"/>
              <a:t>2</a:t>
            </a:r>
            <a:r>
              <a:rPr lang="en-US" dirty="0"/>
              <a:t> ~9%, p-value &lt;0.001</a:t>
            </a:r>
          </a:p>
          <a:p>
            <a:r>
              <a:rPr lang="en-US" b="1" dirty="0"/>
              <a:t>Storage</a:t>
            </a:r>
            <a:r>
              <a:rPr lang="en-US" dirty="0"/>
              <a:t>: R</a:t>
            </a:r>
            <a:r>
              <a:rPr lang="en-US" baseline="30000" dirty="0"/>
              <a:t>2</a:t>
            </a:r>
            <a:r>
              <a:rPr lang="en-US" dirty="0"/>
              <a:t> ~3%, p-value &lt;0.001</a:t>
            </a:r>
          </a:p>
          <a:p>
            <a:endParaRPr lang="en-US" dirty="0"/>
          </a:p>
          <a:p>
            <a:endParaRPr lang="en-US" dirty="0"/>
          </a:p>
        </p:txBody>
      </p:sp>
      <p:sp>
        <p:nvSpPr>
          <p:cNvPr id="9" name="TextBox 8">
            <a:extLst>
              <a:ext uri="{FF2B5EF4-FFF2-40B4-BE49-F238E27FC236}">
                <a16:creationId xmlns:a16="http://schemas.microsoft.com/office/drawing/2014/main" id="{5B9E21D8-F6B1-0160-249B-F4CD4ABCE3F8}"/>
              </a:ext>
            </a:extLst>
          </p:cNvPr>
          <p:cNvSpPr txBox="1"/>
          <p:nvPr/>
        </p:nvSpPr>
        <p:spPr>
          <a:xfrm>
            <a:off x="3549650" y="2069802"/>
            <a:ext cx="3460434" cy="1477328"/>
          </a:xfrm>
          <a:prstGeom prst="rect">
            <a:avLst/>
          </a:prstGeom>
          <a:noFill/>
        </p:spPr>
        <p:txBody>
          <a:bodyPr wrap="none" rtlCol="0">
            <a:spAutoFit/>
          </a:bodyPr>
          <a:lstStyle/>
          <a:p>
            <a:r>
              <a:rPr lang="en-US" dirty="0"/>
              <a:t>Bray-Curtis Dissimilarity:</a:t>
            </a:r>
          </a:p>
          <a:p>
            <a:r>
              <a:rPr lang="en-US" b="1" dirty="0"/>
              <a:t>Season</a:t>
            </a:r>
            <a:r>
              <a:rPr lang="en-US" dirty="0"/>
              <a:t>: R</a:t>
            </a:r>
            <a:r>
              <a:rPr lang="en-US" baseline="30000" dirty="0"/>
              <a:t>2</a:t>
            </a:r>
            <a:r>
              <a:rPr lang="en-US" dirty="0"/>
              <a:t> ~9%, p-value &lt;0.001</a:t>
            </a:r>
          </a:p>
          <a:p>
            <a:r>
              <a:rPr lang="en-US" b="1" dirty="0"/>
              <a:t>Storage</a:t>
            </a:r>
            <a:r>
              <a:rPr lang="en-US" dirty="0"/>
              <a:t>: R</a:t>
            </a:r>
            <a:r>
              <a:rPr lang="en-US" baseline="30000" dirty="0"/>
              <a:t>2</a:t>
            </a:r>
            <a:r>
              <a:rPr lang="en-US" dirty="0"/>
              <a:t> ~4%, p-value &lt;0.001</a:t>
            </a:r>
          </a:p>
          <a:p>
            <a:endParaRPr lang="en-US" dirty="0"/>
          </a:p>
          <a:p>
            <a:endParaRPr lang="en-US" dirty="0"/>
          </a:p>
        </p:txBody>
      </p:sp>
    </p:spTree>
    <p:extLst>
      <p:ext uri="{BB962C8B-B14F-4D97-AF65-F5344CB8AC3E}">
        <p14:creationId xmlns:p14="http://schemas.microsoft.com/office/powerpoint/2010/main" val="1663129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graph of a number of blue and yellow dots&#10;&#10;AI-generated content may be incorrect.">
            <a:extLst>
              <a:ext uri="{FF2B5EF4-FFF2-40B4-BE49-F238E27FC236}">
                <a16:creationId xmlns:a16="http://schemas.microsoft.com/office/drawing/2014/main" id="{16367D3E-9FFE-BB41-C68E-B86527F9EB1C}"/>
              </a:ext>
            </a:extLst>
          </p:cNvPr>
          <p:cNvPicPr>
            <a:picLocks noGrp="1" noChangeAspect="1"/>
          </p:cNvPicPr>
          <p:nvPr>
            <p:ph idx="1"/>
          </p:nvPr>
        </p:nvPicPr>
        <p:blipFill>
          <a:blip r:embed="rId2"/>
          <a:stretch>
            <a:fillRect/>
          </a:stretch>
        </p:blipFill>
        <p:spPr>
          <a:xfrm>
            <a:off x="643467" y="702733"/>
            <a:ext cx="10905066" cy="5452533"/>
          </a:xfrm>
          <a:prstGeom prst="rect">
            <a:avLst/>
          </a:prstGeom>
        </p:spPr>
      </p:pic>
    </p:spTree>
    <p:extLst>
      <p:ext uri="{BB962C8B-B14F-4D97-AF65-F5344CB8AC3E}">
        <p14:creationId xmlns:p14="http://schemas.microsoft.com/office/powerpoint/2010/main" val="18939562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D726D2-0D7F-33B5-CA6E-3A7441AFD710}"/>
              </a:ext>
            </a:extLst>
          </p:cNvPr>
          <p:cNvSpPr>
            <a:spLocks noGrp="1"/>
          </p:cNvSpPr>
          <p:nvPr>
            <p:ph type="title"/>
          </p:nvPr>
        </p:nvSpPr>
        <p:spPr/>
        <p:txBody>
          <a:bodyPr/>
          <a:lstStyle/>
          <a:p>
            <a:r>
              <a:rPr lang="en-US" dirty="0"/>
              <a:t>Pseudomonadota was the most abundant phylum in chopped Romaine.</a:t>
            </a:r>
          </a:p>
        </p:txBody>
      </p:sp>
      <p:pic>
        <p:nvPicPr>
          <p:cNvPr id="5" name="Content Placeholder 4" descr="A group of graphs with different colored dots&#10;&#10;AI-generated content may be incorrect.">
            <a:extLst>
              <a:ext uri="{FF2B5EF4-FFF2-40B4-BE49-F238E27FC236}">
                <a16:creationId xmlns:a16="http://schemas.microsoft.com/office/drawing/2014/main" id="{80A9A22A-74C3-DBCC-A9C6-A43BECA16EA2}"/>
              </a:ext>
            </a:extLst>
          </p:cNvPr>
          <p:cNvPicPr>
            <a:picLocks noGrp="1" noChangeAspect="1"/>
          </p:cNvPicPr>
          <p:nvPr>
            <p:ph idx="1"/>
          </p:nvPr>
        </p:nvPicPr>
        <p:blipFill>
          <a:blip r:embed="rId2"/>
          <a:stretch>
            <a:fillRect/>
          </a:stretch>
        </p:blipFill>
        <p:spPr>
          <a:xfrm>
            <a:off x="0" y="1800225"/>
            <a:ext cx="8702676" cy="4351338"/>
          </a:xfrm>
        </p:spPr>
      </p:pic>
      <p:sp>
        <p:nvSpPr>
          <p:cNvPr id="7" name="TextBox 6">
            <a:extLst>
              <a:ext uri="{FF2B5EF4-FFF2-40B4-BE49-F238E27FC236}">
                <a16:creationId xmlns:a16="http://schemas.microsoft.com/office/drawing/2014/main" id="{F7C01296-ABE8-CCBB-1F36-C7E87EDC652E}"/>
              </a:ext>
            </a:extLst>
          </p:cNvPr>
          <p:cNvSpPr txBox="1"/>
          <p:nvPr/>
        </p:nvSpPr>
        <p:spPr>
          <a:xfrm>
            <a:off x="8822724" y="1690688"/>
            <a:ext cx="3371334" cy="4247317"/>
          </a:xfrm>
          <a:prstGeom prst="rect">
            <a:avLst/>
          </a:prstGeom>
          <a:noFill/>
        </p:spPr>
        <p:txBody>
          <a:bodyPr wrap="square">
            <a:spAutoFit/>
          </a:bodyPr>
          <a:lstStyle/>
          <a:p>
            <a:pPr marL="285750" indent="-285750">
              <a:buFont typeface="Arial" panose="020B0604020202020204" pitchFamily="34" charset="0"/>
              <a:buChar char="•"/>
            </a:pPr>
            <a:r>
              <a:rPr lang="en-US" b="0" i="0" u="none" strike="noStrike" dirty="0">
                <a:effectLst/>
                <a:latin typeface="Aptos" panose="020B0004020202020204" pitchFamily="34" charset="0"/>
              </a:rPr>
              <a:t>Microbial community composition varied modestly between harvest seasons in chopped Romaine. </a:t>
            </a:r>
          </a:p>
          <a:p>
            <a:pPr marL="285750" indent="-285750">
              <a:buFont typeface="Arial" panose="020B0604020202020204" pitchFamily="34" charset="0"/>
              <a:buChar char="•"/>
            </a:pPr>
            <a:r>
              <a:rPr lang="en-US" b="0" i="0" u="none" strike="noStrike" dirty="0">
                <a:effectLst/>
                <a:latin typeface="Aptos" panose="020B0004020202020204" pitchFamily="34" charset="0"/>
              </a:rPr>
              <a:t>While several phyla appear stable across seasons, others show potential slight shifts in relative abundance.</a:t>
            </a:r>
          </a:p>
          <a:p>
            <a:pPr marL="285750" indent="-285750">
              <a:buFont typeface="Arial" panose="020B0604020202020204" pitchFamily="34" charset="0"/>
              <a:buChar char="•"/>
            </a:pPr>
            <a:r>
              <a:rPr lang="en-US" dirty="0">
                <a:latin typeface="Aptos" panose="020B0004020202020204" pitchFamily="34" charset="0"/>
              </a:rPr>
              <a:t>This </a:t>
            </a:r>
            <a:r>
              <a:rPr lang="en-US" b="0" i="0" u="none" strike="noStrike" dirty="0">
                <a:effectLst/>
                <a:latin typeface="Aptos" panose="020B0004020202020204" pitchFamily="34" charset="0"/>
              </a:rPr>
              <a:t>suggests subtle ecological filtering driven by seasonal environmental conditions (e.g., temperature, field microbiota, or post-harvest handling differences).</a:t>
            </a:r>
            <a:endParaRPr lang="en-US" dirty="0">
              <a:latin typeface="Aptos" panose="020B0004020202020204" pitchFamily="34" charset="0"/>
            </a:endParaRPr>
          </a:p>
        </p:txBody>
      </p:sp>
    </p:spTree>
    <p:extLst>
      <p:ext uri="{BB962C8B-B14F-4D97-AF65-F5344CB8AC3E}">
        <p14:creationId xmlns:p14="http://schemas.microsoft.com/office/powerpoint/2010/main" val="15104599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FB350-000A-B6CC-7C34-A0E2B80C39EB}"/>
              </a:ext>
            </a:extLst>
          </p:cNvPr>
          <p:cNvSpPr>
            <a:spLocks noGrp="1"/>
          </p:cNvSpPr>
          <p:nvPr>
            <p:ph type="title"/>
          </p:nvPr>
        </p:nvSpPr>
        <p:spPr/>
        <p:txBody>
          <a:bodyPr/>
          <a:lstStyle/>
          <a:p>
            <a:endParaRPr lang="en-US" dirty="0"/>
          </a:p>
        </p:txBody>
      </p:sp>
      <p:pic>
        <p:nvPicPr>
          <p:cNvPr id="5" name="Content Placeholder 4" descr="A diagram of different colored squares&#10;&#10;AI-generated content may be incorrect.">
            <a:extLst>
              <a:ext uri="{FF2B5EF4-FFF2-40B4-BE49-F238E27FC236}">
                <a16:creationId xmlns:a16="http://schemas.microsoft.com/office/drawing/2014/main" id="{BA7B6B7B-9669-FAD6-B45A-B3A28A967783}"/>
              </a:ext>
            </a:extLst>
          </p:cNvPr>
          <p:cNvPicPr>
            <a:picLocks noGrp="1" noChangeAspect="1"/>
          </p:cNvPicPr>
          <p:nvPr>
            <p:ph idx="1"/>
          </p:nvPr>
        </p:nvPicPr>
        <p:blipFill>
          <a:blip r:embed="rId2"/>
          <a:stretch>
            <a:fillRect/>
          </a:stretch>
        </p:blipFill>
        <p:spPr>
          <a:xfrm>
            <a:off x="0" y="457200"/>
            <a:ext cx="6400800" cy="3200400"/>
          </a:xfrm>
        </p:spPr>
      </p:pic>
      <p:pic>
        <p:nvPicPr>
          <p:cNvPr id="6" name="Content Placeholder 4" descr="A graph of different colored dots&#10;&#10;AI-generated content may be incorrect.">
            <a:extLst>
              <a:ext uri="{FF2B5EF4-FFF2-40B4-BE49-F238E27FC236}">
                <a16:creationId xmlns:a16="http://schemas.microsoft.com/office/drawing/2014/main" id="{ED43F1A8-5938-F2CE-F6B2-98A61A6F31E7}"/>
              </a:ext>
            </a:extLst>
          </p:cNvPr>
          <p:cNvPicPr>
            <a:picLocks noChangeAspect="1"/>
          </p:cNvPicPr>
          <p:nvPr/>
        </p:nvPicPr>
        <p:blipFill>
          <a:blip r:embed="rId3"/>
          <a:stretch>
            <a:fillRect/>
          </a:stretch>
        </p:blipFill>
        <p:spPr>
          <a:xfrm>
            <a:off x="0" y="3657600"/>
            <a:ext cx="6400800" cy="3200400"/>
          </a:xfrm>
          <a:prstGeom prst="rect">
            <a:avLst/>
          </a:prstGeom>
        </p:spPr>
      </p:pic>
    </p:spTree>
    <p:extLst>
      <p:ext uri="{BB962C8B-B14F-4D97-AF65-F5344CB8AC3E}">
        <p14:creationId xmlns:p14="http://schemas.microsoft.com/office/powerpoint/2010/main" val="1044847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95394-B4D7-ECB8-13D5-E3CEA52ED775}"/>
              </a:ext>
            </a:extLst>
          </p:cNvPr>
          <p:cNvSpPr>
            <a:spLocks noGrp="1"/>
          </p:cNvSpPr>
          <p:nvPr>
            <p:ph type="title"/>
          </p:nvPr>
        </p:nvSpPr>
        <p:spPr/>
        <p:txBody>
          <a:bodyPr/>
          <a:lstStyle/>
          <a:p>
            <a:r>
              <a:rPr lang="en-US" dirty="0"/>
              <a:t>Genus </a:t>
            </a:r>
            <a:r>
              <a:rPr lang="en-US" i="1" dirty="0"/>
              <a:t>Pseudomonas </a:t>
            </a:r>
            <a:r>
              <a:rPr lang="en-US" dirty="0"/>
              <a:t>remained abundant and stable across storage.</a:t>
            </a:r>
            <a:endParaRPr lang="en-US" i="1" dirty="0"/>
          </a:p>
        </p:txBody>
      </p:sp>
      <p:pic>
        <p:nvPicPr>
          <p:cNvPr id="5" name="Content Placeholder 4" descr="A chart with different colored squares&#10;&#10;AI-generated content may be incorrect.">
            <a:extLst>
              <a:ext uri="{FF2B5EF4-FFF2-40B4-BE49-F238E27FC236}">
                <a16:creationId xmlns:a16="http://schemas.microsoft.com/office/drawing/2014/main" id="{8F995A38-0B98-7418-D49B-B2D3A347BA40}"/>
              </a:ext>
            </a:extLst>
          </p:cNvPr>
          <p:cNvPicPr>
            <a:picLocks noGrp="1" noChangeAspect="1"/>
          </p:cNvPicPr>
          <p:nvPr>
            <p:ph idx="1"/>
          </p:nvPr>
        </p:nvPicPr>
        <p:blipFill>
          <a:blip r:embed="rId2"/>
          <a:stretch>
            <a:fillRect/>
          </a:stretch>
        </p:blipFill>
        <p:spPr>
          <a:xfrm>
            <a:off x="838200" y="1690688"/>
            <a:ext cx="4351338" cy="4351338"/>
          </a:xfrm>
        </p:spPr>
      </p:pic>
      <p:sp>
        <p:nvSpPr>
          <p:cNvPr id="7" name="TextBox 6">
            <a:extLst>
              <a:ext uri="{FF2B5EF4-FFF2-40B4-BE49-F238E27FC236}">
                <a16:creationId xmlns:a16="http://schemas.microsoft.com/office/drawing/2014/main" id="{5D762893-DAA2-4DA3-9685-45BEE0D6C686}"/>
              </a:ext>
            </a:extLst>
          </p:cNvPr>
          <p:cNvSpPr txBox="1"/>
          <p:nvPr/>
        </p:nvSpPr>
        <p:spPr>
          <a:xfrm>
            <a:off x="5947719" y="1702286"/>
            <a:ext cx="6098058" cy="4349909"/>
          </a:xfrm>
          <a:prstGeom prst="rect">
            <a:avLst/>
          </a:prstGeom>
          <a:noFill/>
        </p:spPr>
        <p:txBody>
          <a:bodyPr wrap="square">
            <a:spAutoFit/>
          </a:bodyPr>
          <a:lstStyle/>
          <a:p>
            <a:pPr algn="l">
              <a:spcAft>
                <a:spcPts val="750"/>
              </a:spcAft>
              <a:buNone/>
            </a:pPr>
            <a:r>
              <a:rPr lang="en-US" b="1" i="1" u="none" strike="noStrike" dirty="0">
                <a:effectLst/>
                <a:latin typeface="Aptos" panose="020B0004020202020204" pitchFamily="34" charset="0"/>
              </a:rPr>
              <a:t>Pseudomonas</a:t>
            </a:r>
            <a:r>
              <a:rPr lang="en-US" b="0" i="0" u="none" strike="noStrike" dirty="0">
                <a:effectLst/>
                <a:latin typeface="Aptos" panose="020B0004020202020204" pitchFamily="34" charset="0"/>
              </a:rPr>
              <a:t>: Genus </a:t>
            </a:r>
            <a:r>
              <a:rPr lang="en-US" b="0" i="1" u="none" strike="noStrike" dirty="0">
                <a:effectLst/>
                <a:latin typeface="Aptos" panose="020B0004020202020204" pitchFamily="34" charset="0"/>
              </a:rPr>
              <a:t>Pseudomonas </a:t>
            </a:r>
            <a:r>
              <a:rPr lang="en-US" b="0" i="0" u="none" strike="noStrike" dirty="0">
                <a:effectLst/>
                <a:latin typeface="Aptos" panose="020B0004020202020204" pitchFamily="34" charset="0"/>
              </a:rPr>
              <a:t>drove the dominance of Pseudomonadota and increased in Late Spring, mirroring the seasonal trend seen at the phylum level. </a:t>
            </a:r>
            <a:r>
              <a:rPr lang="en-US" b="0" i="1" u="none" strike="noStrike" dirty="0">
                <a:effectLst/>
                <a:latin typeface="Aptos" panose="020B0004020202020204" pitchFamily="34" charset="0"/>
              </a:rPr>
              <a:t>Pseudomonas</a:t>
            </a:r>
            <a:r>
              <a:rPr lang="en-US" b="0" i="0" u="none" strike="noStrike" dirty="0">
                <a:effectLst/>
                <a:latin typeface="Aptos" panose="020B0004020202020204" pitchFamily="34" charset="0"/>
              </a:rPr>
              <a:t> is primarily responsible for the seasonal shift. Its stable presence across storage durations suggests strong resilience and potential roles in spoilage or cold adaptation.</a:t>
            </a:r>
          </a:p>
          <a:p>
            <a:pPr algn="l">
              <a:spcAft>
                <a:spcPts val="750"/>
              </a:spcAft>
            </a:pPr>
            <a:r>
              <a:rPr lang="en-US" b="1" i="1" u="none" strike="noStrike" dirty="0" err="1">
                <a:effectLst/>
                <a:latin typeface="Aptos" panose="020B0004020202020204" pitchFamily="34" charset="0"/>
              </a:rPr>
              <a:t>Nissabacter</a:t>
            </a:r>
            <a:r>
              <a:rPr lang="en-US" b="0" i="0" u="none" strike="noStrike" dirty="0">
                <a:effectLst/>
                <a:latin typeface="Aptos" panose="020B0004020202020204" pitchFamily="34" charset="0"/>
              </a:rPr>
              <a:t>: Contrary to the Pseudomonadota trend, </a:t>
            </a:r>
            <a:r>
              <a:rPr lang="en-US" b="0" i="1" u="none" strike="noStrike" dirty="0" err="1">
                <a:effectLst/>
                <a:latin typeface="Aptos" panose="020B0004020202020204" pitchFamily="34" charset="0"/>
              </a:rPr>
              <a:t>Nissabacter</a:t>
            </a:r>
            <a:r>
              <a:rPr lang="en-US" b="0" i="0" u="none" strike="noStrike" dirty="0">
                <a:effectLst/>
                <a:latin typeface="Aptos" panose="020B0004020202020204" pitchFamily="34" charset="0"/>
              </a:rPr>
              <a:t> decreased in Late Spring, despite overall phylum abundance being stable or increasing. This divergence from the phylum-level pattern indicated that different genera within the same phylum may respond in opposite directions to environmental factors, emphasizing the need for genus-level resolution when interpreting ecological shifts.</a:t>
            </a:r>
          </a:p>
        </p:txBody>
      </p:sp>
    </p:spTree>
    <p:extLst>
      <p:ext uri="{BB962C8B-B14F-4D97-AF65-F5344CB8AC3E}">
        <p14:creationId xmlns:p14="http://schemas.microsoft.com/office/powerpoint/2010/main" val="11773472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05691-5B96-1EE5-A988-C375A14971B3}"/>
              </a:ext>
            </a:extLst>
          </p:cNvPr>
          <p:cNvSpPr>
            <a:spLocks noGrp="1"/>
          </p:cNvSpPr>
          <p:nvPr>
            <p:ph type="title"/>
          </p:nvPr>
        </p:nvSpPr>
        <p:spPr/>
        <p:txBody>
          <a:bodyPr/>
          <a:lstStyle/>
          <a:p>
            <a:endParaRPr lang="en-US" dirty="0"/>
          </a:p>
        </p:txBody>
      </p:sp>
      <p:pic>
        <p:nvPicPr>
          <p:cNvPr id="5" name="Content Placeholder 4" descr="A graph of different colored dots&#10;&#10;AI-generated content may be incorrect.">
            <a:extLst>
              <a:ext uri="{FF2B5EF4-FFF2-40B4-BE49-F238E27FC236}">
                <a16:creationId xmlns:a16="http://schemas.microsoft.com/office/drawing/2014/main" id="{501E88DF-1929-65FE-564A-2CEE74872575}"/>
              </a:ext>
            </a:extLst>
          </p:cNvPr>
          <p:cNvPicPr>
            <a:picLocks noGrp="1" noChangeAspect="1"/>
          </p:cNvPicPr>
          <p:nvPr>
            <p:ph idx="1"/>
          </p:nvPr>
        </p:nvPicPr>
        <p:blipFill>
          <a:blip r:embed="rId2"/>
          <a:stretch>
            <a:fillRect/>
          </a:stretch>
        </p:blipFill>
        <p:spPr>
          <a:xfrm>
            <a:off x="838200" y="1862695"/>
            <a:ext cx="4351338" cy="4351338"/>
          </a:xfrm>
        </p:spPr>
      </p:pic>
      <p:sp>
        <p:nvSpPr>
          <p:cNvPr id="7" name="TextBox 6">
            <a:extLst>
              <a:ext uri="{FF2B5EF4-FFF2-40B4-BE49-F238E27FC236}">
                <a16:creationId xmlns:a16="http://schemas.microsoft.com/office/drawing/2014/main" id="{18D002D2-C319-532A-6198-992EA2E0752F}"/>
              </a:ext>
            </a:extLst>
          </p:cNvPr>
          <p:cNvSpPr txBox="1"/>
          <p:nvPr/>
        </p:nvSpPr>
        <p:spPr>
          <a:xfrm>
            <a:off x="5829301" y="1885221"/>
            <a:ext cx="6098058" cy="3241913"/>
          </a:xfrm>
          <a:prstGeom prst="rect">
            <a:avLst/>
          </a:prstGeom>
          <a:noFill/>
        </p:spPr>
        <p:txBody>
          <a:bodyPr wrap="square">
            <a:spAutoFit/>
          </a:bodyPr>
          <a:lstStyle/>
          <a:p>
            <a:pPr algn="l">
              <a:spcAft>
                <a:spcPts val="750"/>
              </a:spcAft>
              <a:buNone/>
            </a:pPr>
            <a:r>
              <a:rPr lang="en-US" b="1" i="1" u="none" strike="noStrike" dirty="0" err="1">
                <a:effectLst/>
                <a:latin typeface="Aptos" panose="020B0004020202020204" pitchFamily="34" charset="0"/>
              </a:rPr>
              <a:t>Leuconostoc</a:t>
            </a:r>
            <a:r>
              <a:rPr lang="en-US" b="0" i="0" u="none" strike="noStrike" dirty="0">
                <a:effectLst/>
                <a:latin typeface="Aptos" panose="020B0004020202020204" pitchFamily="34" charset="0"/>
              </a:rPr>
              <a:t>: This genus showed higher abundance in Early Fall and a notable increase with extended storage (UBD5). While </a:t>
            </a:r>
            <a:r>
              <a:rPr lang="en-US" b="0" i="0" u="none" strike="noStrike" dirty="0" err="1">
                <a:effectLst/>
                <a:latin typeface="Aptos" panose="020B0004020202020204" pitchFamily="34" charset="0"/>
              </a:rPr>
              <a:t>Bacillota</a:t>
            </a:r>
            <a:r>
              <a:rPr lang="en-US" b="0" i="0" u="none" strike="noStrike" dirty="0">
                <a:effectLst/>
                <a:latin typeface="Aptos" panose="020B0004020202020204" pitchFamily="34" charset="0"/>
              </a:rPr>
              <a:t> appeared relatively stable across seasons and storage durations at the phylum level, </a:t>
            </a:r>
            <a:r>
              <a:rPr lang="en-US" b="0" i="0" u="none" strike="noStrike" dirty="0" err="1">
                <a:effectLst/>
                <a:latin typeface="Aptos" panose="020B0004020202020204" pitchFamily="34" charset="0"/>
              </a:rPr>
              <a:t>Leuconostoc’s</a:t>
            </a:r>
            <a:r>
              <a:rPr lang="en-US" b="0" i="0" u="none" strike="noStrike" dirty="0">
                <a:effectLst/>
                <a:latin typeface="Aptos" panose="020B0004020202020204" pitchFamily="34" charset="0"/>
              </a:rPr>
              <a:t> behavior suggests a potential role in spoilage or fermentation-like processes during storage.</a:t>
            </a:r>
          </a:p>
          <a:p>
            <a:pPr algn="l">
              <a:spcAft>
                <a:spcPts val="750"/>
              </a:spcAft>
            </a:pPr>
            <a:r>
              <a:rPr lang="en-US" b="1" i="1" u="none" strike="noStrike" dirty="0" err="1">
                <a:effectLst/>
                <a:latin typeface="Aptos" panose="020B0004020202020204" pitchFamily="34" charset="0"/>
              </a:rPr>
              <a:t>Weissella</a:t>
            </a:r>
            <a:r>
              <a:rPr lang="en-US" b="0" i="0" u="none" strike="noStrike" dirty="0">
                <a:effectLst/>
                <a:latin typeface="Aptos" panose="020B0004020202020204" pitchFamily="34" charset="0"/>
              </a:rPr>
              <a:t>: Showed a similar pattern - slightly higher in Fall and slightly decreasing during storage. This again contrasts with the phylum-level stability and implies that some </a:t>
            </a:r>
            <a:r>
              <a:rPr lang="en-US" b="0" i="0" u="none" strike="noStrike" dirty="0" err="1">
                <a:effectLst/>
                <a:latin typeface="Aptos" panose="020B0004020202020204" pitchFamily="34" charset="0"/>
              </a:rPr>
              <a:t>Bacillota</a:t>
            </a:r>
            <a:r>
              <a:rPr lang="en-US" b="0" i="0" u="none" strike="noStrike" dirty="0">
                <a:effectLst/>
                <a:latin typeface="Aptos" panose="020B0004020202020204" pitchFamily="34" charset="0"/>
              </a:rPr>
              <a:t> genera may be outcompeted or suppressed as storage progresses.</a:t>
            </a:r>
          </a:p>
        </p:txBody>
      </p:sp>
    </p:spTree>
    <p:extLst>
      <p:ext uri="{BB962C8B-B14F-4D97-AF65-F5344CB8AC3E}">
        <p14:creationId xmlns:p14="http://schemas.microsoft.com/office/powerpoint/2010/main" val="1616462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769BA-D2FB-255B-0EE6-A82784FD96FF}"/>
              </a:ext>
            </a:extLst>
          </p:cNvPr>
          <p:cNvSpPr>
            <a:spLocks noGrp="1"/>
          </p:cNvSpPr>
          <p:nvPr>
            <p:ph type="title"/>
          </p:nvPr>
        </p:nvSpPr>
        <p:spPr/>
        <p:txBody>
          <a:bodyPr/>
          <a:lstStyle/>
          <a:p>
            <a:r>
              <a:rPr lang="en-US" dirty="0"/>
              <a:t>Compositional Analysis</a:t>
            </a:r>
          </a:p>
        </p:txBody>
      </p:sp>
      <p:sp>
        <p:nvSpPr>
          <p:cNvPr id="3" name="Content Placeholder 2">
            <a:extLst>
              <a:ext uri="{FF2B5EF4-FFF2-40B4-BE49-F238E27FC236}">
                <a16:creationId xmlns:a16="http://schemas.microsoft.com/office/drawing/2014/main" id="{338DBB00-7ECC-0164-5A9B-42EB6AA8CCAA}"/>
              </a:ext>
            </a:extLst>
          </p:cNvPr>
          <p:cNvSpPr>
            <a:spLocks noGrp="1"/>
          </p:cNvSpPr>
          <p:nvPr>
            <p:ph idx="1"/>
          </p:nvPr>
        </p:nvSpPr>
        <p:spPr/>
        <p:txBody>
          <a:bodyPr>
            <a:normAutofit lnSpcReduction="10000"/>
          </a:bodyPr>
          <a:lstStyle/>
          <a:p>
            <a:r>
              <a:rPr lang="en-US" dirty="0"/>
              <a:t>Dominant phylum: Pseudomonadota </a:t>
            </a:r>
          </a:p>
          <a:p>
            <a:r>
              <a:rPr lang="en-US" dirty="0"/>
              <a:t>Key genera: </a:t>
            </a:r>
            <a:r>
              <a:rPr lang="en-US" i="1" dirty="0"/>
              <a:t>Pseudomonas</a:t>
            </a:r>
            <a:r>
              <a:rPr lang="en-US" dirty="0"/>
              <a:t>, </a:t>
            </a:r>
            <a:r>
              <a:rPr lang="en-US" i="1" dirty="0" err="1"/>
              <a:t>Pantoea</a:t>
            </a:r>
            <a:r>
              <a:rPr lang="en-US" dirty="0"/>
              <a:t>, and </a:t>
            </a:r>
            <a:r>
              <a:rPr lang="en-US" i="1" dirty="0"/>
              <a:t>Enterobacter</a:t>
            </a:r>
            <a:endParaRPr lang="en-US" dirty="0"/>
          </a:p>
          <a:p>
            <a:endParaRPr lang="en-US" dirty="0"/>
          </a:p>
          <a:p>
            <a:r>
              <a:rPr lang="en-US" dirty="0"/>
              <a:t>Seasonal Differences:</a:t>
            </a:r>
          </a:p>
          <a:p>
            <a:r>
              <a:rPr lang="en-US" dirty="0"/>
              <a:t>Early season: more Pseudomonas.</a:t>
            </a:r>
          </a:p>
          <a:p>
            <a:r>
              <a:rPr lang="en-US" dirty="0"/>
              <a:t>Late season: more Enterobacteriaceae.</a:t>
            </a:r>
          </a:p>
          <a:p>
            <a:endParaRPr lang="en-US" dirty="0"/>
          </a:p>
          <a:p>
            <a:r>
              <a:rPr lang="en-US" dirty="0"/>
              <a:t>Storage Effects:</a:t>
            </a:r>
          </a:p>
          <a:p>
            <a:r>
              <a:rPr lang="en-US" dirty="0"/>
              <a:t>UBD+5 samples: Increase in spoilage-associated bacteria.</a:t>
            </a:r>
          </a:p>
          <a:p>
            <a:endParaRPr lang="en-US" dirty="0"/>
          </a:p>
        </p:txBody>
      </p:sp>
    </p:spTree>
    <p:extLst>
      <p:ext uri="{BB962C8B-B14F-4D97-AF65-F5344CB8AC3E}">
        <p14:creationId xmlns:p14="http://schemas.microsoft.com/office/powerpoint/2010/main" val="1104286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9A98B-807E-7ADA-B8DD-8C69F13CC56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70BC2C6-2D77-1526-F906-DBB27050D8DB}"/>
              </a:ext>
            </a:extLst>
          </p:cNvPr>
          <p:cNvSpPr>
            <a:spLocks noGrp="1"/>
          </p:cNvSpPr>
          <p:nvPr>
            <p:ph idx="1"/>
          </p:nvPr>
        </p:nvSpPr>
        <p:spPr/>
        <p:txBody>
          <a:bodyPr/>
          <a:lstStyle/>
          <a:p>
            <a:r>
              <a:rPr lang="en-US" dirty="0"/>
              <a:t>Interpretation</a:t>
            </a:r>
          </a:p>
          <a:p>
            <a:r>
              <a:rPr lang="en-US" dirty="0"/>
              <a:t>Seasonality shapes starting microbiota.</a:t>
            </a:r>
          </a:p>
          <a:p>
            <a:r>
              <a:rPr lang="en-US" dirty="0"/>
              <a:t>Storage beyond UBD allows predictable spoilage-driven shifts.</a:t>
            </a:r>
          </a:p>
          <a:p>
            <a:r>
              <a:rPr lang="en-US" dirty="0"/>
              <a:t>Pseudomonas becomes more dominant after extended storage.</a:t>
            </a:r>
          </a:p>
          <a:p>
            <a:endParaRPr lang="en-US" dirty="0"/>
          </a:p>
          <a:p>
            <a:r>
              <a:rPr lang="en-US" dirty="0"/>
              <a:t>Implication:</a:t>
            </a:r>
          </a:p>
          <a:p>
            <a:r>
              <a:rPr lang="en-US" dirty="0"/>
              <a:t>Microbial evolution is not random after UBD; certain groups thrive.</a:t>
            </a:r>
          </a:p>
          <a:p>
            <a:endParaRPr lang="en-US" dirty="0"/>
          </a:p>
        </p:txBody>
      </p:sp>
    </p:spTree>
    <p:extLst>
      <p:ext uri="{BB962C8B-B14F-4D97-AF65-F5344CB8AC3E}">
        <p14:creationId xmlns:p14="http://schemas.microsoft.com/office/powerpoint/2010/main" val="1111913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EC2F7-5833-D1E3-B0FE-1B91D965AA3D}"/>
              </a:ext>
            </a:extLst>
          </p:cNvPr>
          <p:cNvSpPr>
            <a:spLocks noGrp="1"/>
          </p:cNvSpPr>
          <p:nvPr>
            <p:ph type="title"/>
          </p:nvPr>
        </p:nvSpPr>
        <p:spPr/>
        <p:txBody>
          <a:bodyPr/>
          <a:lstStyle/>
          <a:p>
            <a:r>
              <a:rPr lang="en-US" dirty="0"/>
              <a:t>Future Directions</a:t>
            </a:r>
          </a:p>
        </p:txBody>
      </p:sp>
      <p:sp>
        <p:nvSpPr>
          <p:cNvPr id="3" name="Content Placeholder 2">
            <a:extLst>
              <a:ext uri="{FF2B5EF4-FFF2-40B4-BE49-F238E27FC236}">
                <a16:creationId xmlns:a16="http://schemas.microsoft.com/office/drawing/2014/main" id="{AC0B99BF-5E45-5889-5261-505E0803CA5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43447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ED4A3-0003-28F5-AEC9-8CE445958B22}"/>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F855F510-C141-BC6B-270E-E54D41839C90}"/>
              </a:ext>
            </a:extLst>
          </p:cNvPr>
          <p:cNvSpPr>
            <a:spLocks noGrp="1"/>
          </p:cNvSpPr>
          <p:nvPr>
            <p:ph idx="1"/>
          </p:nvPr>
        </p:nvSpPr>
        <p:spPr/>
        <p:txBody>
          <a:bodyPr/>
          <a:lstStyle/>
          <a:p>
            <a:endParaRPr lang="en-US" dirty="0"/>
          </a:p>
          <a:p>
            <a:r>
              <a:rPr lang="en-US" dirty="0"/>
              <a:t>Both season and storage time significantly affect microbial quality.</a:t>
            </a:r>
          </a:p>
          <a:p>
            <a:r>
              <a:rPr lang="en-US" dirty="0"/>
              <a:t>Extended storage past UBD favors spoilage-associated genera.</a:t>
            </a:r>
          </a:p>
          <a:p>
            <a:r>
              <a:rPr lang="en-US" dirty="0"/>
              <a:t>Findings can inform better shelf life assessments and reduce unnecessary food waste.</a:t>
            </a:r>
          </a:p>
          <a:p>
            <a:endParaRPr lang="en-US" dirty="0"/>
          </a:p>
        </p:txBody>
      </p:sp>
    </p:spTree>
    <p:extLst>
      <p:ext uri="{BB962C8B-B14F-4D97-AF65-F5344CB8AC3E}">
        <p14:creationId xmlns:p14="http://schemas.microsoft.com/office/powerpoint/2010/main" val="4133843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1546</TotalTime>
  <Words>1869</Words>
  <Application>Microsoft Macintosh PowerPoint</Application>
  <PresentationFormat>Widescreen</PresentationFormat>
  <Paragraphs>114</Paragraphs>
  <Slides>16</Slides>
  <Notes>5</Notes>
  <HiddenSlides>2</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-webkit-standard</vt:lpstr>
      <vt:lpstr>Aptos</vt:lpstr>
      <vt:lpstr>Aptos Display</vt:lpstr>
      <vt:lpstr>Arial</vt:lpstr>
      <vt:lpstr>MuseoSans</vt:lpstr>
      <vt:lpstr>Office Theme</vt:lpstr>
      <vt:lpstr>Bacterial Changes in Bagged Romaine Lettuce After the Use By Date</vt:lpstr>
      <vt:lpstr>Introduction</vt:lpstr>
      <vt:lpstr>Objectives</vt:lpstr>
      <vt:lpstr>Romaine stored 5-days-post UBD had slightly higher richness and had more dominant members. </vt:lpstr>
      <vt:lpstr>Romaine harvested in early season had significantly higher richness and had more dominant members. </vt:lpstr>
      <vt:lpstr>How does the microbial biodiversity in chopped Romaine lettuce change with (i) storage duration and (ii) harvest season of lettuce?</vt:lpstr>
      <vt:lpstr>Harvest season drives microbial community shifts on chopped Romaine, while storage duration plays a minor role. </vt:lpstr>
      <vt:lpstr>PowerPoint Presentation</vt:lpstr>
      <vt:lpstr>Pseudomonadota was the most abundant phylum in chopped Romaine.</vt:lpstr>
      <vt:lpstr>PowerPoint Presentation</vt:lpstr>
      <vt:lpstr>Genus Pseudomonas remained abundant and stable across storage.</vt:lpstr>
      <vt:lpstr>PowerPoint Presentation</vt:lpstr>
      <vt:lpstr>Compositional Analysis</vt:lpstr>
      <vt:lpstr>PowerPoint Presentation</vt:lpstr>
      <vt:lpstr>Future Directions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Hilal Samut</dc:creator>
  <cp:lastModifiedBy>Hilal Samut</cp:lastModifiedBy>
  <cp:revision>147</cp:revision>
  <dcterms:created xsi:type="dcterms:W3CDTF">2025-04-28T01:48:28Z</dcterms:created>
  <dcterms:modified xsi:type="dcterms:W3CDTF">2025-04-29T19:54:01Z</dcterms:modified>
</cp:coreProperties>
</file>